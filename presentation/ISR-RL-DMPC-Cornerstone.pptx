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6EDF3"/>
                </a:solidFill>
              </a:defRPr>
            </a:pPr>
            <a:r>
              <a:t>ISR-RL-DMPC</a:t>
            </a:r>
          </a:p>
          <a:p>
            <a:pPr>
              <a:defRPr sz="1800">
                <a:solidFill>
                  <a:srgbClr val="58A6FF"/>
                </a:solidFill>
              </a:defRPr>
            </a:pPr>
            <a:r>
              <a:t>Autonomous Multi-Drone ISR Swarm using MARL-Adaptive DMPC + ADMM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9728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EDF3"/>
                </a:solidFill>
              </a:defRPr>
            </a:pPr>
            <a:r>
              <a:t>Cornerstone Presentation</a:t>
            </a:r>
          </a:p>
          <a:p>
            <a:pPr>
              <a:defRPr sz="2200">
                <a:solidFill>
                  <a:srgbClr val="E6EDF3"/>
                </a:solidFill>
              </a:defRPr>
            </a:pPr>
            <a:r>
              <a:t>Team: Jivesh Kesar • Harsh • Rohit Shankar Sinha</a:t>
            </a:r>
          </a:p>
          <a:p>
            <a:pPr>
              <a:defRPr sz="2200">
                <a:solidFill>
                  <a:srgbClr val="E6EDF3"/>
                </a:solidFill>
              </a:defRPr>
            </a:pPr>
            <a:r>
              <a:t>Repository: Cornerstone-swarm-drones/isr-rl-dmpc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49E"/>
                </a:solidFill>
              </a:defRPr>
            </a:pPr>
            <a:r>
              <a:t>ISR-RL-DMPC • Cornerstone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6EDF3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E6EDF3"/>
                </a:solidFill>
              </a:defRPr>
            </a:pPr>
            <a:r>
              <a:t>1) Motivation</a:t>
            </a:r>
          </a:p>
          <a:p>
            <a:pPr>
              <a:defRPr sz="2400">
                <a:solidFill>
                  <a:srgbClr val="E6EDF3"/>
                </a:solidFill>
              </a:defRPr>
            </a:pPr>
            <a:r>
              <a:t>2) Problem Statement</a:t>
            </a:r>
          </a:p>
          <a:p>
            <a:pPr>
              <a:defRPr sz="2400">
                <a:solidFill>
                  <a:srgbClr val="E6EDF3"/>
                </a:solidFill>
              </a:defRPr>
            </a:pPr>
            <a:r>
              <a:t>3) Methodology (module-wise deep dive)</a:t>
            </a:r>
          </a:p>
          <a:p>
            <a:pPr>
              <a:defRPr sz="2400">
                <a:solidFill>
                  <a:srgbClr val="E6EDF3"/>
                </a:solidFill>
              </a:defRPr>
            </a:pPr>
            <a:r>
              <a:t>4) Challenges</a:t>
            </a:r>
          </a:p>
          <a:p>
            <a:pPr>
              <a:defRPr sz="2400">
                <a:solidFill>
                  <a:srgbClr val="E6EDF3"/>
                </a:solidFill>
              </a:defRPr>
            </a:pPr>
            <a:r>
              <a:t>5) Results and Analysis</a:t>
            </a:r>
          </a:p>
          <a:p>
            <a:pPr>
              <a:defRPr sz="2400">
                <a:solidFill>
                  <a:srgbClr val="E6EDF3"/>
                </a:solidFill>
              </a:defRPr>
            </a:pPr>
            <a:r>
              <a:t>6) Novelty</a:t>
            </a:r>
          </a:p>
          <a:p>
            <a:pPr>
              <a:defRPr sz="2400">
                <a:solidFill>
                  <a:srgbClr val="E6EDF3"/>
                </a:solidFill>
              </a:defRPr>
            </a:pPr>
            <a:r>
              <a:t>7)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49E"/>
                </a:solidFill>
              </a:defRPr>
            </a:pPr>
            <a:r>
              <a:t>ISR-RL-DMPC • Cornerstone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137160"/>
            <a:ext cx="3474720" cy="320040"/>
          </a:xfrm>
          <a:prstGeom prst="round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1117"/>
                </a:solidFill>
              </a:defRPr>
            </a:pPr>
            <a:r>
              <a:t>01 •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6EDF3"/>
                </a:solidFill>
              </a:defRPr>
            </a:pPr>
            <a:r>
              <a:t>Why this project?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394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8A6FF"/>
                </a:solidFill>
              </a:defRPr>
            </a:pPr>
            <a:r>
              <a:t>Operational 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8A6FF"/>
                </a:solidFill>
              </a:defRPr>
            </a:pPr>
            <a:r>
              <a:t>Research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3035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6EDF3"/>
                </a:solidFill>
              </a:defRPr>
            </a:pPr>
            <a:r>
              <a:t>• ISR missions require fast area coverage and persistent tracking.</a:t>
            </a:r>
          </a:p>
          <a:p>
            <a:pPr>
              <a:defRPr sz="1800">
                <a:solidFill>
                  <a:srgbClr val="E6EDF3"/>
                </a:solidFill>
              </a:defRPr>
            </a:pPr>
            <a:r>
              <a:t>• Single-drone systems are fragile and coverage-limited.</a:t>
            </a:r>
          </a:p>
          <a:p>
            <a:pPr>
              <a:defRPr sz="1800">
                <a:solidFill>
                  <a:srgbClr val="E6EDF3"/>
                </a:solidFill>
              </a:defRPr>
            </a:pPr>
            <a:r>
              <a:t>• Swarms improve redundancy, responsiveness, and spatial diversity.</a:t>
            </a:r>
          </a:p>
          <a:p>
            <a:pPr>
              <a:defRPr sz="1800">
                <a:solidFill>
                  <a:srgbClr val="E6EDF3"/>
                </a:solidFill>
              </a:defRPr>
            </a:pPr>
            <a:r>
              <a:t>• Real-time autonomy is needed under uncertainty and constraints.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6EDF3"/>
                </a:solidFill>
              </a:defRPr>
            </a:pPr>
            <a:r>
              <a:t>• Pure RL lacks hard safety guarantees in mission-critical loops.</a:t>
            </a:r>
          </a:p>
          <a:p>
            <a:pPr>
              <a:defRPr sz="1800">
                <a:solidFill>
                  <a:srgbClr val="E6EDF3"/>
                </a:solidFill>
              </a:defRPr>
            </a:pPr>
            <a:r>
              <a:t>• Classical DMPC with fixed Q/R is not adaptive across contexts.</a:t>
            </a:r>
          </a:p>
          <a:p>
            <a:pPr>
              <a:defRPr sz="1800">
                <a:solidFill>
                  <a:srgbClr val="E6EDF3"/>
                </a:solidFill>
              </a:defRPr>
            </a:pPr>
            <a:r>
              <a:t>• Need adaptive control priorities with convex optimization safety.</a:t>
            </a:r>
          </a:p>
          <a:p>
            <a:pPr>
              <a:defRPr sz="1800">
                <a:solidFill>
                  <a:srgbClr val="E6EDF3"/>
                </a:solidFill>
              </a:defRPr>
            </a:pPr>
            <a:r>
              <a:t>• Need distributed consensus for coherent multi-drone behavior.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49E"/>
                </a:solidFill>
              </a:defRPr>
            </a:pPr>
            <a:r>
              <a:t>ISR-RL-DMPC • Cornerstone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137160"/>
            <a:ext cx="3474720" cy="320040"/>
          </a:xfrm>
          <a:prstGeom prst="round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1117"/>
                </a:solidFill>
              </a:defRPr>
            </a:pPr>
            <a:r>
              <a:t>02 •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6EDF3"/>
                </a:solidFill>
              </a:defRPr>
            </a:pPr>
            <a:r>
              <a:t>Formal Multi-Drone ISR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6EDF3"/>
                </a:solidFill>
              </a:defRPr>
            </a:pPr>
            <a:r>
              <a:t>Given N drones, maximize surveillance and target response while preserving safety and coordination.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Optimization objective (per drone i):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min Σ_{k=0}^{N-1} [ e_k^T Q_eff^(i) e_k + u_k^T R_eff^(i) u_k ] + e_N^T P e_N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Subject to: x_{k+1}=Ax_k+Bu_k, ||u_k||&lt;=u_max, ||p_i-p_j||&gt;=r_min, and mission constraints.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Need: 50 Hz operation, distributed scalability, and robust estimation under sensor noise.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49E"/>
                </a:solidFill>
              </a:defRPr>
            </a:pPr>
            <a:r>
              <a:t>ISR-RL-DMPC • Cornerstone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137160"/>
            <a:ext cx="3474720" cy="320040"/>
          </a:xfrm>
          <a:prstGeom prst="round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1117"/>
                </a:solidFill>
              </a:defRPr>
            </a:pPr>
            <a:r>
              <a:t>03 •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6EDF3"/>
                </a:solidFill>
              </a:defRPr>
            </a:pPr>
            <a:r>
              <a:t>System Architecture &amp;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6EDF3"/>
                </a:solidFill>
              </a:defRPr>
            </a:pPr>
            <a:r>
              <a:t>Perception: Sensor fusion (EKF) + target state estimation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Decision: Mission planning + formation + classification + threat + task allocation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MARL: MAPPO outputs adaptive Q/R scale vectors (14-D action)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Consensus: ADMM synchronizes local DMPC sub-problems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Control: DMPC (CVXPY/OSQP) + geometric attitude controller (SO(3))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Analytics: Stability and performance diagnostics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49E"/>
                </a:solidFill>
              </a:defRPr>
            </a:pPr>
            <a:r>
              <a:t>ISR-RL-DMPC • Cornerstone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6EDF3"/>
                </a:solidFill>
              </a:defRPr>
            </a:pPr>
            <a:r>
              <a:t>Module Deep Dive 1: Drone State 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6EDF3"/>
                </a:solidFill>
              </a:defRPr>
            </a:pPr>
            <a:r>
              <a:t>DMPC state (11-D): x=[p_x,p_y,p_z,v_x,v_y,v_z,a_x,a_y,a_z,ψ,ψ̇]^T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Dynamics: x[k+1]=Ax[k]+Bu[k], with translational triple-integrator structure.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A embeds p←v and v←a coupling; B injects acceleration control into a-states.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Controllability theorem: translational (A_9,B_9) is fully controllable (rank 9).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Importance: provides stable, computationally tractable model for real-time QP.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49E"/>
                </a:solidFill>
              </a:defRPr>
            </a:pPr>
            <a:r>
              <a:t>ISR-RL-DMPC • Cornerstone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6EDF3"/>
                </a:solidFill>
              </a:defRPr>
            </a:pPr>
            <a:r>
              <a:t>Module Deep Dive 2: Extended Kalman Filter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394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8A6FF"/>
                </a:solidFill>
              </a:defRPr>
            </a:pPr>
            <a:r>
              <a:t>Equations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8A6FF"/>
                </a:solidFill>
              </a:defRPr>
            </a:pPr>
            <a:r>
              <a:t>Integration Role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3035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6EDF3"/>
                </a:solidFill>
              </a:defRPr>
            </a:pPr>
            <a:r>
              <a:t>Predict: x^- = f(x,u),  P^- = FPF^T + Q</a:t>
            </a:r>
          </a:p>
          <a:p>
            <a:pPr>
              <a:defRPr sz="1800">
                <a:solidFill>
                  <a:srgbClr val="E6EDF3"/>
                </a:solidFill>
              </a:defRPr>
            </a:pPr>
            <a:r>
              <a:t>Update: K = P^-H^T(HP^-H^T+R)^(-1)</a:t>
            </a:r>
          </a:p>
          <a:p>
            <a:pPr>
              <a:defRPr sz="1800">
                <a:solidFill>
                  <a:srgbClr val="E6EDF3"/>
                </a:solidFill>
              </a:defRPr>
            </a:pPr>
            <a:r>
              <a:t>x = x^- + K(z - h(x^-)),  P=(I-KH)P^-</a:t>
            </a:r>
          </a:p>
          <a:p>
            <a:pPr>
              <a:defRPr sz="1800">
                <a:solidFill>
                  <a:srgbClr val="E6EDF3"/>
                </a:solidFill>
              </a:defRPr>
            </a:pPr>
            <a:r>
              <a:t>Adaptive fusion: R_eff = R / confidence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6EDF3"/>
                </a:solidFill>
              </a:defRPr>
            </a:pPr>
            <a:r>
              <a:t>Drone estimator: 18-D state assembly</a:t>
            </a:r>
          </a:p>
          <a:p>
            <a:pPr>
              <a:defRPr sz="1800">
                <a:solidFill>
                  <a:srgbClr val="E6EDF3"/>
                </a:solidFill>
              </a:defRPr>
            </a:pPr>
            <a:r>
              <a:t>Target estimator: 11-D tracking EKF per target</a:t>
            </a:r>
          </a:p>
          <a:p>
            <a:pPr>
              <a:defRPr sz="1800">
                <a:solidFill>
                  <a:srgbClr val="E6EDF3"/>
                </a:solidFill>
              </a:defRPr>
            </a:pPr>
            <a:r>
              <a:t>Fuses IMU, GPS, radar, optical, RF, acoustic cues</a:t>
            </a:r>
          </a:p>
          <a:p>
            <a:pPr>
              <a:defRPr sz="1800">
                <a:solidFill>
                  <a:srgbClr val="E6EDF3"/>
                </a:solidFill>
              </a:defRPr>
            </a:pPr>
            <a:r>
              <a:t>Provides reliable state feed for DMPC and decision modules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49E"/>
                </a:solidFill>
              </a:defRPr>
            </a:pPr>
            <a:r>
              <a:t>ISR-RL-DMPC • Cornerstone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6EDF3"/>
                </a:solidFill>
              </a:defRPr>
            </a:pPr>
            <a:r>
              <a:t>Module Deep Dive 3: Formation Consensus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6EDF3"/>
                </a:solidFill>
              </a:defRPr>
            </a:pPr>
            <a:r>
              <a:t>Graph model G=(V,E), Laplacian L = D - A_adj governs convergence.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Consensus control term: u_consensus,i = k_c Σ_{j∈N(i)} (p_j - p_i).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Formation law combines position tracking, damping, and consensus coupling.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Convergence condition (discrete): Δt·k_c·λ_max(L) &lt; 2.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Importance: maintains coherent geometry (line, wedge, grid, circular, sphere) across missions.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49E"/>
                </a:solidFill>
              </a:defRPr>
            </a:pPr>
            <a:r>
              <a:t>ISR-RL-DMPC • Cornerstone 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6EDF3"/>
                </a:solidFill>
              </a:defRPr>
            </a:pPr>
            <a:r>
              <a:t>Module Deep Dive 4: Task Allocation (Hungarian)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394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8A6FF"/>
                </a:solidFill>
              </a:defRPr>
            </a:pPr>
            <a:r>
              <a:t>Optimization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8A6FF"/>
                </a:solidFill>
              </a:defRPr>
            </a:pPr>
            <a:r>
              <a:t>Cost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3035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6EDF3"/>
                </a:solidFill>
              </a:defRPr>
            </a:pPr>
            <a:r>
              <a:t>Linear Assignment Problem:</a:t>
            </a:r>
          </a:p>
          <a:p>
            <a:pPr>
              <a:defRPr sz="1800">
                <a:solidFill>
                  <a:srgbClr val="E6EDF3"/>
                </a:solidFill>
              </a:defRPr>
            </a:pPr>
            <a:r>
              <a:t>min_σ Σ_i C[i,σ(i)]  subject to one-to-one assignment</a:t>
            </a:r>
          </a:p>
          <a:p>
            <a:pPr>
              <a:defRPr sz="1800">
                <a:solidFill>
                  <a:srgbClr val="E6EDF3"/>
                </a:solidFill>
              </a:defRPr>
            </a:pPr>
            <a:r>
              <a:t>Solved optimally in O(n^3) by Hungarian method.</a:t>
            </a:r>
          </a:p>
          <a:p>
            <a:pPr>
              <a:defRPr sz="1800">
                <a:solidFill>
                  <a:srgbClr val="E6EDF3"/>
                </a:solidFill>
              </a:defRPr>
            </a:pPr>
            <a:r>
              <a:t>Padding handles rectangular task/drone matrices.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6EDF3"/>
                </a:solidFill>
              </a:defRPr>
            </a:pPr>
            <a:r>
              <a:t>C = 0.30 c_dist + 0.20 c_fuel + 0.20 c_load + 0.15 c_sensor - 0.15 priority</a:t>
            </a:r>
          </a:p>
          <a:p>
            <a:pPr>
              <a:defRPr sz="1800">
                <a:solidFill>
                  <a:srgbClr val="E6EDF3"/>
                </a:solidFill>
              </a:defRPr>
            </a:pPr>
            <a:r>
              <a:t>Infeasible assignments penalized with large cost.</a:t>
            </a:r>
          </a:p>
          <a:p>
            <a:pPr>
              <a:defRPr sz="1800">
                <a:solidFill>
                  <a:srgbClr val="E6EDF3"/>
                </a:solidFill>
              </a:defRPr>
            </a:pPr>
            <a:r>
              <a:t>Importance: aligns threat priorities with drone capabilities and endurance.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49E"/>
                </a:solidFill>
              </a:defRPr>
            </a:pPr>
            <a:r>
              <a:t>ISR-RL-DMPC • Cornerstone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6EDF3"/>
                </a:solidFill>
              </a:defRPr>
            </a:pPr>
            <a:r>
              <a:t>Module Deep Dive 5: DMPC Controller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E6EDF3"/>
                </a:solidFill>
              </a:defRPr>
            </a:pPr>
            <a:r>
              <a:t>Core QP solved each control cycle (50 Hz) via CVXPY + OSQP.</a:t>
            </a:r>
          </a:p>
          <a:p>
            <a:pPr>
              <a:defRPr sz="1900">
                <a:solidFill>
                  <a:srgbClr val="E6EDF3"/>
                </a:solidFill>
              </a:defRPr>
            </a:pPr>
            <a:r>
              <a:t>Terminal DARE equation defines P and LQR-consistent terminal penalty.</a:t>
            </a:r>
          </a:p>
          <a:p>
            <a:pPr>
              <a:defRPr sz="1900">
                <a:solidFill>
                  <a:srgbClr val="E6EDF3"/>
                </a:solidFill>
              </a:defRPr>
            </a:pPr>
            <a:r>
              <a:t>DARE: P = Q + A^TPA - A^TPB(R+B^TPB)^(-1)B^TPA</a:t>
            </a:r>
          </a:p>
          <a:p>
            <a:pPr>
              <a:defRPr sz="1900">
                <a:solidFill>
                  <a:srgbClr val="E6EDF3"/>
                </a:solidFill>
              </a:defRPr>
            </a:pPr>
            <a:r>
              <a:t>MAPPO adaptation: Q_eff = Q ⊙ diag(q_s), R_eff = R ⊙ diag(r_s), with scale clipping [0.1,10].</a:t>
            </a:r>
          </a:p>
          <a:p>
            <a:pPr>
              <a:defRPr sz="1900">
                <a:solidFill>
                  <a:srgbClr val="E6EDF3"/>
                </a:solidFill>
              </a:defRPr>
            </a:pPr>
            <a:r>
              <a:t>Importance: safety-constrained optimization with adaptive mission behavior.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49E"/>
                </a:solidFill>
              </a:defRPr>
            </a:pPr>
            <a:r>
              <a:t>ISR-RL-DMPC • Cornerstone Project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6EDF3"/>
                </a:solidFill>
              </a:defRPr>
            </a:pPr>
            <a:r>
              <a:t>Module Deep Dive 6: ADMM Consensus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97280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6EDF3"/>
                </a:solidFill>
              </a:defRPr>
            </a:pPr>
            <a:r>
              <a:t>Global consensus: minimize Σ_i f_i(z_i) subject to z_i = v for all i.</a:t>
            </a:r>
          </a:p>
          <a:p>
            <a:pPr>
              <a:defRPr sz="1800">
                <a:solidFill>
                  <a:srgbClr val="E6EDF3"/>
                </a:solidFill>
              </a:defRPr>
            </a:pPr>
            <a:r>
              <a:t>Augmented Lagrangian: L_ρ = Σ_i [f_i(z_i)+μ_i^T(z_i-v)+ (ρ/2)||z_i-v||^2].</a:t>
            </a:r>
          </a:p>
          <a:p>
            <a:pPr>
              <a:defRPr sz="1800">
                <a:solidFill>
                  <a:srgbClr val="E6EDF3"/>
                </a:solidFill>
              </a:defRPr>
            </a:pPr>
            <a:r>
              <a:t>Iterative steps per cycle: z-update (local), v-update (global average), dual update.</a:t>
            </a:r>
          </a:p>
          <a:p>
            <a:pPr>
              <a:defRPr sz="1800">
                <a:solidFill>
                  <a:srgbClr val="E6EDF3"/>
                </a:solidFill>
              </a:defRPr>
            </a:pPr>
            <a:r>
              <a:t>Residuals: primal r_prim and dual r_dual guide stopping criteria.</a:t>
            </a:r>
          </a:p>
          <a:p>
            <a:pPr>
              <a:defRPr sz="1800">
                <a:solidFill>
                  <a:srgbClr val="E6EDF3"/>
                </a:solidFill>
              </a:defRPr>
            </a:pPr>
            <a:r>
              <a:t>Theorem (Boyd et al.): for convex closed proper f_i, ADMM converges to optimum.</a:t>
            </a:r>
          </a:p>
          <a:p>
            <a:pPr>
              <a:defRPr sz="1800">
                <a:solidFill>
                  <a:srgbClr val="E6EDF3"/>
                </a:solidFill>
              </a:defRPr>
            </a:pPr>
            <a:r>
              <a:t>Integration role: aligns distributed plans without centralizing full trajectory optimization.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49E"/>
                </a:solidFill>
              </a:defRPr>
            </a:pPr>
            <a:r>
              <a:t>ISR-RL-DMPC • Cornerstone Project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6EDF3"/>
                </a:solidFill>
              </a:defRPr>
            </a:pPr>
            <a:r>
              <a:t>Module Deep Dive 7: MAPPO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394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8A6FF"/>
                </a:solidFill>
              </a:defRPr>
            </a:pPr>
            <a:r>
              <a:t>Learning Formulation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8A6FF"/>
                </a:solidFill>
              </a:defRPr>
            </a:pPr>
            <a:r>
              <a:t>Interfaces to DMPC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3035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E6EDF3"/>
                </a:solidFill>
              </a:defRPr>
            </a:pPr>
            <a:r>
              <a:t>CTDE: centralized critic V_φ(o^1,...,o^N), decentralized actor π_θ(o^i).</a:t>
            </a:r>
          </a:p>
          <a:p>
            <a:pPr>
              <a:defRPr sz="1700">
                <a:solidFill>
                  <a:srgbClr val="E6EDF3"/>
                </a:solidFill>
              </a:defRPr>
            </a:pPr>
            <a:r>
              <a:t>PPO clipping objective with entropy regularization.</a:t>
            </a:r>
          </a:p>
          <a:p>
            <a:pPr>
              <a:defRPr sz="1700">
                <a:solidFill>
                  <a:srgbClr val="E6EDF3"/>
                </a:solidFill>
              </a:defRPr>
            </a:pPr>
            <a:r>
              <a:t>GAE: Â_t = Σ_l (γλ)^l δ_{t+l}.</a:t>
            </a:r>
          </a:p>
          <a:p>
            <a:pPr>
              <a:defRPr sz="1700">
                <a:solidFill>
                  <a:srgbClr val="E6EDF3"/>
                </a:solidFill>
              </a:defRPr>
            </a:pPr>
            <a:r>
              <a:t>Obs: 40-D per drone, action: 14-D per drone.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E6EDF3"/>
                </a:solidFill>
              </a:defRPr>
            </a:pPr>
            <a:r>
              <a:t>Action = [q_scale(11), r_scale(3)]</a:t>
            </a:r>
          </a:p>
          <a:p>
            <a:pPr>
              <a:defRPr sz="1700">
                <a:solidFill>
                  <a:srgbClr val="E6EDF3"/>
                </a:solidFill>
              </a:defRPr>
            </a:pPr>
            <a:r>
              <a:t>These scales modulate DMPC weights online.</a:t>
            </a:r>
          </a:p>
          <a:p>
            <a:pPr>
              <a:defRPr sz="1700">
                <a:solidFill>
                  <a:srgbClr val="E6EDF3"/>
                </a:solidFill>
              </a:defRPr>
            </a:pPr>
            <a:r>
              <a:t>Preserves hard constraints while enabling policy adaptation.</a:t>
            </a:r>
          </a:p>
          <a:p>
            <a:pPr>
              <a:defRPr sz="1700">
                <a:solidFill>
                  <a:srgbClr val="E6EDF3"/>
                </a:solidFill>
              </a:defRPr>
            </a:pPr>
            <a:r>
              <a:t>Bridges learning with certifiable optimization layer.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49E"/>
                </a:solidFill>
              </a:defRPr>
            </a:pPr>
            <a:r>
              <a:t>ISR-RL-DMPC • Cornerstone Project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6EDF3"/>
                </a:solidFill>
              </a:defRPr>
            </a:pPr>
            <a:r>
              <a:t>Module Deep Dive 8: Geometric Attitude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E6EDF3"/>
                </a:solidFill>
              </a:defRPr>
            </a:pPr>
            <a:r>
              <a:t>Uses SO(3) formulation to avoid Euler-angle singularities (gimbal lock).</a:t>
            </a:r>
          </a:p>
          <a:p>
            <a:pPr>
              <a:defRPr sz="1900">
                <a:solidFill>
                  <a:srgbClr val="E6EDF3"/>
                </a:solidFill>
              </a:defRPr>
            </a:pPr>
            <a:r>
              <a:t>Attitude error: e_R = 0.5·vex(R_d^T R - R^T R_d).</a:t>
            </a:r>
          </a:p>
          <a:p>
            <a:pPr>
              <a:defRPr sz="1900">
                <a:solidFill>
                  <a:srgbClr val="E6EDF3"/>
                </a:solidFill>
              </a:defRPr>
            </a:pPr>
            <a:r>
              <a:t>Torque law: τ = -K_p,att e_R - K_d,att e_ω + ω×(Jω).</a:t>
            </a:r>
          </a:p>
          <a:p>
            <a:pPr>
              <a:defRPr sz="1900">
                <a:solidFill>
                  <a:srgbClr val="E6EDF3"/>
                </a:solidFill>
              </a:defRPr>
            </a:pPr>
            <a:r>
              <a:t>Motor mixing maps [F,τ_x,τ_y,τ_z] to [T1,T2,T3,T4] for X-quad geometry.</a:t>
            </a:r>
          </a:p>
          <a:p>
            <a:pPr>
              <a:defRPr sz="1900">
                <a:solidFill>
                  <a:srgbClr val="E6EDF3"/>
                </a:solidFill>
              </a:defRPr>
            </a:pPr>
            <a:r>
              <a:t>Importance: stable inner-loop realization of outer-loop DMPC accelerations.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49E"/>
                </a:solidFill>
              </a:defRPr>
            </a:pPr>
            <a:r>
              <a:t>ISR-RL-DMPC • Cornerstone Project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6EDF3"/>
                </a:solidFill>
              </a:defRPr>
            </a:pPr>
            <a:r>
              <a:t>Module Deep Dive 9: Stability, ISS, and CBF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6EDF3"/>
                </a:solidFill>
              </a:defRPr>
            </a:pPr>
            <a:r>
              <a:t>Lyapunov candidate: V(e)=e^T P e, with P from DARE (positive definite).</a:t>
            </a:r>
          </a:p>
          <a:p>
            <a:pPr>
              <a:defRPr sz="1800">
                <a:solidFill>
                  <a:srgbClr val="E6EDF3"/>
                </a:solidFill>
              </a:defRPr>
            </a:pPr>
            <a:r>
              <a:t>For LQR closed loop: ΔV = -e^T(Q + K^TRK)e &lt; 0 ⇒ asymptotic stability.</a:t>
            </a:r>
          </a:p>
          <a:p>
            <a:pPr>
              <a:defRPr sz="1800">
                <a:solidFill>
                  <a:srgbClr val="E6EDF3"/>
                </a:solidFill>
              </a:defRPr>
            </a:pPr>
            <a:r>
              <a:t>ISS bound quantifies disturbance-to-state gain under bounded perturbations.</a:t>
            </a:r>
          </a:p>
          <a:p>
            <a:pPr>
              <a:defRPr sz="1800">
                <a:solidFill>
                  <a:srgbClr val="E6EDF3"/>
                </a:solidFill>
              </a:defRPr>
            </a:pPr>
            <a:r>
              <a:t>CBF safety function: h_ij = ||p_i-p_j||^2 - r_min^2; enforce forward invariance.</a:t>
            </a:r>
          </a:p>
          <a:p>
            <a:pPr>
              <a:defRPr sz="1800">
                <a:solidFill>
                  <a:srgbClr val="E6EDF3"/>
                </a:solidFill>
              </a:defRPr>
            </a:pPr>
            <a:r>
              <a:t>Recursive feasibility discussed with terminal-set assumptions and implementation caveats.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49E"/>
                </a:solidFill>
              </a:defRPr>
            </a:pPr>
            <a:r>
              <a:t>ISR-RL-DMPC • Cornerstone Project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6EDF3"/>
                </a:solidFill>
              </a:defRPr>
            </a:pPr>
            <a:r>
              <a:t>Integrated Methodology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6EDF3"/>
                </a:solidFill>
              </a:defRPr>
            </a:pPr>
            <a:r>
              <a:t>Sensors → EKF fusion → classification/threat assessment → task allocation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Mission planner + formation controller define references and geometry constraints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MAPPO outputs adaptive Q/R scales per drone each step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ADMM drives local DMPC plans to consensus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DMPC computes constrained optimal accelerations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SO(3) attitude controller converts commands to motor thrusts in physics simulator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49E"/>
                </a:solidFill>
              </a:defRPr>
            </a:pPr>
            <a:r>
              <a:t>ISR-RL-DMPC • Cornerstone Project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137160"/>
            <a:ext cx="3474720" cy="320040"/>
          </a:xfrm>
          <a:prstGeom prst="round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1117"/>
                </a:solidFill>
              </a:defRPr>
            </a:pPr>
            <a:r>
              <a:t>04 •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6EDF3"/>
                </a:solidFill>
              </a:defRPr>
            </a:pPr>
            <a:r>
              <a:t>Key Challenges and How We Addressed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E6EDF3"/>
                </a:solidFill>
              </a:defRPr>
            </a:pPr>
            <a:r>
              <a:t>1) Non-convex collision constraints vs QP solver requirements (handled with practical approximations/CBF framing).</a:t>
            </a:r>
          </a:p>
          <a:p>
            <a:pPr>
              <a:defRPr sz="1900">
                <a:solidFill>
                  <a:srgbClr val="E6EDF3"/>
                </a:solidFill>
              </a:defRPr>
            </a:pPr>
            <a:r>
              <a:t>2) Stability guarantees under online MARL scaling of Q and R.</a:t>
            </a:r>
          </a:p>
          <a:p>
            <a:pPr>
              <a:defRPr sz="1900">
                <a:solidFill>
                  <a:srgbClr val="E6EDF3"/>
                </a:solidFill>
              </a:defRPr>
            </a:pPr>
            <a:r>
              <a:t>3) Maintaining 50 Hz timing with distributed optimization overhead.</a:t>
            </a:r>
          </a:p>
          <a:p>
            <a:pPr>
              <a:defRPr sz="1900">
                <a:solidFill>
                  <a:srgbClr val="E6EDF3"/>
                </a:solidFill>
              </a:defRPr>
            </a:pPr>
            <a:r>
              <a:t>4) Partial observability and asynchronous multi-sensor measurements.</a:t>
            </a:r>
          </a:p>
          <a:p>
            <a:pPr>
              <a:defRPr sz="1900">
                <a:solidFill>
                  <a:srgbClr val="E6EDF3"/>
                </a:solidFill>
              </a:defRPr>
            </a:pPr>
            <a:r>
              <a:t>5) Swarm-scale communication and consensus robustness under delays/dropouts.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49E"/>
                </a:solidFill>
              </a:defRPr>
            </a:pPr>
            <a:r>
              <a:t>ISR-RL-DMPC • Cornerstone Project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137160"/>
            <a:ext cx="3474720" cy="320040"/>
          </a:xfrm>
          <a:prstGeom prst="round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1117"/>
                </a:solidFill>
              </a:defRPr>
            </a:pPr>
            <a:r>
              <a:t>05 • Results &amp;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6EDF3"/>
                </a:solidFill>
              </a:defRPr>
            </a:pPr>
            <a:r>
              <a:t>Results and Analytical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394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8A6FF"/>
                </a:solidFill>
              </a:defRPr>
            </a:pPr>
            <a:r>
              <a:t>Observed System Behavior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8A6FF"/>
                </a:solidFill>
              </a:defRPr>
            </a:pPr>
            <a:r>
              <a:t>Quantitative Indicators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3035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6EDF3"/>
                </a:solidFill>
              </a:defRPr>
            </a:pPr>
            <a:r>
              <a:t>• Stable trajectory tracking across scenarios</a:t>
            </a:r>
          </a:p>
          <a:p>
            <a:pPr>
              <a:defRPr sz="1800">
                <a:solidFill>
                  <a:srgbClr val="E6EDF3"/>
                </a:solidFill>
              </a:defRPr>
            </a:pPr>
            <a:r>
              <a:t>• Coherent formation maintenance with ADMM coupling</a:t>
            </a:r>
          </a:p>
          <a:p>
            <a:pPr>
              <a:defRPr sz="1800">
                <a:solidFill>
                  <a:srgbClr val="E6EDF3"/>
                </a:solidFill>
              </a:defRPr>
            </a:pPr>
            <a:r>
              <a:t>• Real-time feasible optimization loop</a:t>
            </a:r>
          </a:p>
          <a:p>
            <a:pPr>
              <a:defRPr sz="1800">
                <a:solidFill>
                  <a:srgbClr val="E6EDF3"/>
                </a:solidFill>
              </a:defRPr>
            </a:pPr>
            <a:r>
              <a:t>• Robust estimation and mission-level responsiveness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6EDF3"/>
                </a:solidFill>
              </a:defRPr>
            </a:pPr>
            <a:r>
              <a:t>• Spectral radius ρ(A_cl) ≈ 0.983 (&lt;1)</a:t>
            </a:r>
          </a:p>
          <a:p>
            <a:pPr>
              <a:defRPr sz="1800">
                <a:solidFill>
                  <a:srgbClr val="E6EDF3"/>
                </a:solidFill>
              </a:defRPr>
            </a:pPr>
            <a:r>
              <a:t>• ADMM residuals converge within 3–5 iterations</a:t>
            </a:r>
          </a:p>
          <a:p>
            <a:pPr>
              <a:defRPr sz="1800">
                <a:solidFill>
                  <a:srgbClr val="E6EDF3"/>
                </a:solidFill>
              </a:defRPr>
            </a:pPr>
            <a:r>
              <a:t>• Stability report: Lyapunov/Eigenvalue/ISS/CBF checks pass</a:t>
            </a:r>
          </a:p>
          <a:p>
            <a:pPr>
              <a:defRPr sz="1800">
                <a:solidFill>
                  <a:srgbClr val="E6EDF3"/>
                </a:solidFill>
              </a:defRPr>
            </a:pPr>
            <a:r>
              <a:t>• Comparative analysis notebook available for DMPC vs RL-adaptive DMPC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49E"/>
                </a:solidFill>
              </a:defRPr>
            </a:pPr>
            <a:r>
              <a:t>ISR-RL-DMPC • Cornerstone Project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137160"/>
            <a:ext cx="3474720" cy="320040"/>
          </a:xfrm>
          <a:prstGeom prst="round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1117"/>
                </a:solidFill>
              </a:defRPr>
            </a:pPr>
            <a:r>
              <a:t>06 • Novelty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6EDF3"/>
                </a:solidFill>
              </a:defRPr>
            </a:pPr>
            <a:r>
              <a:t>Novel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6EDF3"/>
                </a:solidFill>
              </a:defRPr>
            </a:pPr>
            <a:r>
              <a:t>• MARL policy adapts MPC cost weights online instead of replacing MPC safety core.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• ADMM-based consensus integrated directly with per-agent DMPC and mission modules.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• Full-stack ISR pipeline: sensing, estimation, planning, allocation, control, and analytics.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• CTDE MAPPO design tailored to swarm coordination under partial observability.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• Practical bridge between theoretical control guarantees and adaptive learning behavior.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49E"/>
                </a:solidFill>
              </a:defRPr>
            </a:pPr>
            <a:r>
              <a:t>ISR-RL-DMPC • Cornerstone Project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137160"/>
            <a:ext cx="3474720" cy="320040"/>
          </a:xfrm>
          <a:prstGeom prst="round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1117"/>
                </a:solidFill>
              </a:defRPr>
            </a:pPr>
            <a:r>
              <a:t>07 •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6EDF3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394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8A6FF"/>
                </a:solidFill>
              </a:defRPr>
            </a:pPr>
            <a: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8A6FF"/>
                </a:solidFill>
              </a:defRPr>
            </a:pPr>
            <a:r>
              <a:t>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3035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6EDF3"/>
                </a:solidFill>
              </a:defRPr>
            </a:pPr>
            <a:r>
              <a:t>• Delivered a modular ISR swarm framework with adaptive DMPC.</a:t>
            </a:r>
          </a:p>
          <a:p>
            <a:pPr>
              <a:defRPr sz="1800">
                <a:solidFill>
                  <a:srgbClr val="E6EDF3"/>
                </a:solidFill>
              </a:defRPr>
            </a:pPr>
            <a:r>
              <a:t>• Demonstrated mathematically grounded control plus RL adaptation.</a:t>
            </a:r>
          </a:p>
          <a:p>
            <a:pPr>
              <a:defRPr sz="1800">
                <a:solidFill>
                  <a:srgbClr val="E6EDF3"/>
                </a:solidFill>
              </a:defRPr>
            </a:pPr>
            <a:r>
              <a:t>• Achieved integrated end-to-end mission flow in simulation.</a:t>
            </a:r>
          </a:p>
          <a:p>
            <a:pPr>
              <a:defRPr sz="1800">
                <a:solidFill>
                  <a:srgbClr val="E6EDF3"/>
                </a:solidFill>
              </a:defRPr>
            </a:pPr>
            <a:r>
              <a:t>• Provided reproducible architecture, docs, and analysis.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6EDF3"/>
                </a:solidFill>
              </a:defRPr>
            </a:pPr>
            <a:r>
              <a:t>• Explicit terminal set constraints for stronger guarantees</a:t>
            </a:r>
          </a:p>
          <a:p>
            <a:pPr>
              <a:defRPr sz="1800">
                <a:solidFill>
                  <a:srgbClr val="E6EDF3"/>
                </a:solidFill>
              </a:defRPr>
            </a:pPr>
            <a:r>
              <a:t>• Improved convex-safe collision formulations</a:t>
            </a:r>
          </a:p>
          <a:p>
            <a:pPr>
              <a:defRPr sz="1800">
                <a:solidFill>
                  <a:srgbClr val="E6EDF3"/>
                </a:solidFill>
              </a:defRPr>
            </a:pPr>
            <a:r>
              <a:t>• Hardware deployment and HIL validation</a:t>
            </a:r>
          </a:p>
          <a:p>
            <a:pPr>
              <a:defRPr sz="1800">
                <a:solidFill>
                  <a:srgbClr val="E6EDF3"/>
                </a:solidFill>
              </a:defRPr>
            </a:pPr>
            <a:r>
              <a:t>• Larger swarm scaling with communication constraints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49E"/>
                </a:solidFill>
              </a:defRPr>
            </a:pPr>
            <a:r>
              <a:t>ISR-RL-DMPC • Cornerstone Project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6EDF3"/>
                </a:solidFill>
              </a:defRPr>
            </a:pPr>
            <a:r>
              <a:t>Thank You</a:t>
            </a:r>
          </a:p>
          <a:p>
            <a:pPr>
              <a:defRPr sz="1800">
                <a:solidFill>
                  <a:srgbClr val="58A6FF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9728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EDF3"/>
                </a:solidFill>
              </a:defRPr>
            </a:pPr>
            <a:r>
              <a:t>Repository: https://github.com/Cornerstone-swarm-drones/isr-rl-dmpc</a:t>
            </a:r>
          </a:p>
          <a:p>
            <a:pPr>
              <a:defRPr sz="2200">
                <a:solidFill>
                  <a:srgbClr val="E6EDF3"/>
                </a:solidFill>
              </a:defRPr>
            </a:pPr>
            <a:r>
              <a:t>Presentation includes methodology, module equations, analysis, and conclusions.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49E"/>
                </a:solidFill>
              </a:defRPr>
            </a:pPr>
            <a:r>
              <a:t>ISR-RL-DMPC • Cornerstone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