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2" r:id="rId5"/>
    <p:sldId id="264" r:id="rId6"/>
    <p:sldId id="265" r:id="rId7"/>
    <p:sldId id="266" r:id="rId8"/>
    <p:sldId id="268" r:id="rId9"/>
    <p:sldId id="270" r:id="rId10"/>
    <p:sldId id="272" r:id="rId11"/>
    <p:sldId id="274" r:id="rId12"/>
    <p:sldId id="275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185AE1-F427-520B-8FBB-6AF137B14486}" v="538" dt="2026-05-07T15:33:46.4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474720"/>
            <a:ext cx="12188952" cy="338328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ISR-RL-DMPC
Swarm Intelligence for Multi-Drone ISR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926080"/>
            <a:ext cx="45720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3108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Reinforcement Learning–Adaptive Distributed Model Predictive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035040"/>
            <a:ext cx="1143000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300" b="0" i="0" dirty="0">
                <a:solidFill>
                  <a:srgbClr val="8899AA"/>
                </a:solidFill>
              </a:rPr>
              <a:t>Cornerstone Swarm Drones  ·  </a:t>
            </a:r>
            <a:r>
              <a:rPr lang="en-US" sz="1300">
                <a:solidFill>
                  <a:srgbClr val="8899AA"/>
                </a:solidFill>
              </a:rPr>
              <a:t>2025-2026</a:t>
            </a:r>
            <a:r>
              <a:rPr sz="1300" b="0" i="0">
                <a:solidFill>
                  <a:srgbClr val="8899AA"/>
                </a:solidFill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55231-4912-52DE-FB6B-B58F81977AA6}"/>
              </a:ext>
            </a:extLst>
          </p:cNvPr>
          <p:cNvSpPr txBox="1"/>
          <p:nvPr/>
        </p:nvSpPr>
        <p:spPr>
          <a:xfrm>
            <a:off x="3789750" y="4163313"/>
            <a:ext cx="41249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tx2">
                    <a:lumMod val="40000"/>
                    <a:lumOff val="60000"/>
                  </a:schemeClr>
                </a:solidFill>
                <a:ea typeface="Calibri"/>
                <a:cs typeface="Calibri"/>
              </a:rPr>
              <a:t>Team-</a:t>
            </a:r>
            <a:endParaRPr lang="en-US"/>
          </a:p>
          <a:p>
            <a:pPr algn="ctr"/>
            <a:r>
              <a:rPr lang="en-US">
                <a:solidFill>
                  <a:schemeClr val="tx2">
                    <a:lumMod val="40000"/>
                    <a:lumOff val="60000"/>
                  </a:schemeClr>
                </a:solidFill>
                <a:ea typeface="Calibri"/>
                <a:cs typeface="Calibri"/>
              </a:rPr>
              <a:t>Jivesh Kesar – 2025JRB2026</a:t>
            </a:r>
          </a:p>
          <a:p>
            <a:pPr algn="ctr"/>
            <a:r>
              <a:rPr lang="en-US">
                <a:solidFill>
                  <a:schemeClr val="tx2">
                    <a:lumMod val="40000"/>
                    <a:lumOff val="60000"/>
                  </a:schemeClr>
                </a:solidFill>
                <a:ea typeface="Calibri"/>
                <a:cs typeface="Calibri"/>
              </a:rPr>
              <a:t>Harsh – 2025JRB2049</a:t>
            </a:r>
          </a:p>
          <a:p>
            <a:pPr algn="ctr"/>
            <a:r>
              <a:rPr lang="en-US">
                <a:solidFill>
                  <a:schemeClr val="tx2">
                    <a:lumMod val="40000"/>
                    <a:lumOff val="60000"/>
                  </a:schemeClr>
                </a:solidFill>
                <a:ea typeface="Calibri"/>
                <a:cs typeface="Calibri"/>
              </a:rPr>
              <a:t>Rohit Shankar Sinha - 2025JRB2051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Student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04691" y="1214990"/>
            <a:ext cx="5486400" cy="538609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FFFFFF"/>
                </a:solidFill>
              </a:rPr>
              <a:t>Rohit</a:t>
            </a:r>
            <a:r>
              <a:rPr sz="1600" dirty="0">
                <a:solidFill>
                  <a:srgbClr val="FFFFFF"/>
                </a:solidFill>
              </a:rPr>
              <a:t> — DMPC Core &amp; </a:t>
            </a:r>
            <a:r>
              <a:rPr sz="1600" dirty="0" err="1">
                <a:solidFill>
                  <a:srgbClr val="FFFFFF"/>
                </a:solidFill>
              </a:rPr>
              <a:t>Optimisation</a:t>
            </a:r>
            <a:endParaRPr lang="en-US" sz="1600" dirty="0" err="1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Distributed Model Predictive Control (DMPC) framework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MPC cost matrices Q, R — DPP-compliant CVXPY formulation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CBF-based inter-drone collision constraints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ADMM consensus protocol for cooperative trajectory planning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• </a:t>
            </a:r>
            <a:r>
              <a:rPr sz="1600" dirty="0" err="1">
                <a:solidFill>
                  <a:srgbClr val="FFFFFF"/>
                </a:solidFill>
              </a:rPr>
              <a:t>EnvironmentSimulator</a:t>
            </a:r>
            <a:r>
              <a:rPr sz="1600" dirty="0">
                <a:solidFill>
                  <a:srgbClr val="FFFFFF"/>
                </a:solidFill>
              </a:rPr>
              <a:t> 6-DOF physics engine (rigid-body, wind, battery)</a:t>
            </a:r>
            <a:endParaRPr sz="1600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endParaRPr sz="1600">
              <a:solidFill>
                <a:srgbClr val="FFFFFF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1600">
                <a:solidFill>
                  <a:srgbClr val="FFFFFF"/>
                </a:solidFill>
              </a:rPr>
              <a:t>Jivesh</a:t>
            </a:r>
            <a:r>
              <a:rPr sz="1600">
                <a:solidFill>
                  <a:srgbClr val="FFFFFF"/>
                </a:solidFill>
              </a:rPr>
              <a:t> — RL Policy &amp; Training Infrastructure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MAPPO multi-agent policy architecture (shared actor-critic)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• </a:t>
            </a:r>
            <a:r>
              <a:rPr sz="1600" dirty="0" err="1">
                <a:solidFill>
                  <a:srgbClr val="FFFFFF"/>
                </a:solidFill>
              </a:rPr>
              <a:t>MARLDMPCEnv</a:t>
            </a:r>
            <a:r>
              <a:rPr sz="1600" dirty="0">
                <a:solidFill>
                  <a:srgbClr val="FFFFFF"/>
                </a:solidFill>
              </a:rPr>
              <a:t> Gymnasium environment (OBS=40-D, ACT=14-D per drone)</a:t>
            </a:r>
            <a:endParaRPr sz="1600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Scenario-specific reward functions (tracking, formation, coverage)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• Stable-Baselines3 PPO training pipeline and evaluation scripts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• Observation space design — nearest-</a:t>
            </a:r>
            <a:r>
              <a:rPr sz="1600" dirty="0" err="1">
                <a:solidFill>
                  <a:srgbClr val="FFFFFF"/>
                </a:solidFill>
              </a:rPr>
              <a:t>neighbour</a:t>
            </a:r>
            <a:r>
              <a:rPr sz="1600" dirty="0">
                <a:solidFill>
                  <a:srgbClr val="FFFFFF"/>
                </a:solidFill>
              </a:rPr>
              <a:t>, battery, ADMM residuals</a:t>
            </a:r>
            <a:endParaRPr sz="1600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109" y="1296030"/>
            <a:ext cx="5486400" cy="454483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CCCCCC"/>
                </a:solidFill>
              </a:rPr>
              <a:t>Harsh</a:t>
            </a:r>
            <a:r>
              <a:rPr sz="1600" dirty="0">
                <a:solidFill>
                  <a:srgbClr val="CCCCCC"/>
                </a:solidFill>
              </a:rPr>
              <a:t>— Simulation, </a:t>
            </a:r>
            <a:r>
              <a:rPr sz="1600" dirty="0" err="1">
                <a:solidFill>
                  <a:srgbClr val="CCCCCC"/>
                </a:solidFill>
              </a:rPr>
              <a:t>Visualisation</a:t>
            </a:r>
            <a:r>
              <a:rPr sz="1600" dirty="0">
                <a:solidFill>
                  <a:srgbClr val="CCCCCC"/>
                </a:solidFill>
              </a:rPr>
              <a:t> &amp; Integration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CCCCCC"/>
                </a:solidFill>
              </a:rPr>
              <a:t>  • </a:t>
            </a:r>
            <a:r>
              <a:rPr sz="1600" dirty="0" err="1">
                <a:solidFill>
                  <a:srgbClr val="CCCCCC"/>
                </a:solidFill>
              </a:rPr>
              <a:t>PyBullet</a:t>
            </a:r>
            <a:r>
              <a:rPr sz="1600" dirty="0">
                <a:solidFill>
                  <a:srgbClr val="CCCCCC"/>
                </a:solidFill>
              </a:rPr>
              <a:t> 3-D </a:t>
            </a:r>
            <a:r>
              <a:rPr sz="1600" dirty="0" err="1">
                <a:solidFill>
                  <a:srgbClr val="CCCCCC"/>
                </a:solidFill>
              </a:rPr>
              <a:t>visualisation</a:t>
            </a:r>
            <a:r>
              <a:rPr sz="1600" dirty="0">
                <a:solidFill>
                  <a:srgbClr val="CCCCCC"/>
                </a:solidFill>
              </a:rPr>
              <a:t> (drone URDFs, target markers, trail lines)</a:t>
            </a:r>
            <a:endParaRPr sz="16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• Staggered home-position spawning for safe sequential drone launch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• Auto-follow camera with exponential smoothing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CCCCCC"/>
                </a:solidFill>
              </a:rPr>
              <a:t>  • </a:t>
            </a:r>
            <a:r>
              <a:rPr sz="1600" dirty="0" err="1">
                <a:solidFill>
                  <a:srgbClr val="CCCCCC"/>
                </a:solidFill>
              </a:rPr>
              <a:t>PyBullet</a:t>
            </a:r>
            <a:r>
              <a:rPr sz="1600" dirty="0">
                <a:solidFill>
                  <a:srgbClr val="CCCCCC"/>
                </a:solidFill>
              </a:rPr>
              <a:t> video recording (MP4) per scenario / episode</a:t>
            </a:r>
            <a:endParaRPr sz="16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CCCCCC"/>
                </a:solidFill>
              </a:rPr>
              <a:t>  • Mission scenario YAML configs (</a:t>
            </a:r>
            <a:r>
              <a:rPr sz="1600" dirty="0" err="1">
                <a:solidFill>
                  <a:srgbClr val="CCCCCC"/>
                </a:solidFill>
              </a:rPr>
              <a:t>area_surveillance</a:t>
            </a:r>
            <a:r>
              <a:rPr sz="1600" dirty="0">
                <a:solidFill>
                  <a:srgbClr val="CCCCCC"/>
                </a:solidFill>
              </a:rPr>
              <a:t>, </a:t>
            </a:r>
            <a:r>
              <a:rPr sz="1600" dirty="0" err="1">
                <a:solidFill>
                  <a:srgbClr val="CCCCCC"/>
                </a:solidFill>
              </a:rPr>
              <a:t>threat_response</a:t>
            </a:r>
            <a:r>
              <a:rPr sz="1600" dirty="0">
                <a:solidFill>
                  <a:srgbClr val="CCCCCC"/>
                </a:solidFill>
              </a:rPr>
              <a:t>,</a:t>
            </a:r>
            <a:endParaRPr sz="16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CCCCCC"/>
                </a:solidFill>
              </a:rPr>
              <a:t>    </a:t>
            </a:r>
            <a:r>
              <a:rPr sz="1600" dirty="0" err="1">
                <a:solidFill>
                  <a:srgbClr val="CCCCCC"/>
                </a:solidFill>
              </a:rPr>
              <a:t>search_and_track</a:t>
            </a:r>
            <a:r>
              <a:rPr sz="1600" dirty="0">
                <a:solidFill>
                  <a:srgbClr val="CCCCCC"/>
                </a:solidFill>
              </a:rPr>
              <a:t>)</a:t>
            </a:r>
            <a:endParaRPr sz="16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• CLI runners: run_dmpc.py, run_dmpc_rl.py, swarm_pybullet_sim.py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• Trajectory planners (lawnmower, circular patrol, expanding-square)</a:t>
            </a:r>
          </a:p>
          <a:p>
            <a:pPr>
              <a:spcBef>
                <a:spcPts val="400"/>
              </a:spcBef>
            </a:pPr>
            <a:endParaRPr sz="1600">
              <a:solidFill>
                <a:srgbClr val="CCCCCC"/>
              </a:solidFill>
            </a:endParaRP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Shared work  —  system integration, testing,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Intelligence, Surveillance &amp; Reconnaissance (ISR) demands scalable autonomy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44620"/>
            <a:ext cx="11430000" cy="493981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▶  Growing demand for persistent, wide-area aerial surveillance</a:t>
            </a:r>
          </a:p>
          <a:p>
            <a:pPr lvl="1"/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— Border monitoring and perimeter security</a:t>
            </a:r>
            <a:endParaRPr lang="en-US"/>
          </a:p>
          <a:p>
            <a:pPr lvl="1"/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— Critical infrastructure inspection</a:t>
            </a:r>
            <a:endParaRPr lang="en-US"/>
          </a:p>
          <a:p>
            <a:pPr lvl="1"/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— Disaster-response and search-and-rescue operations</a:t>
            </a:r>
            <a:endParaRPr/>
          </a:p>
          <a:p>
            <a:pPr lvl="1">
              <a:spcBef>
                <a:spcPts val="500"/>
              </a:spcBef>
            </a:pPr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— Dynamic target tracking in uncertain environments</a:t>
            </a:r>
            <a:endParaRPr/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▶  Limitations of current approaches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Classical DMPC: fixed cost weights, no online adaptation to changing conditions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Pure RL: black-box policies, hard to guarantee safety constraints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Human-in-the-loop: bandwidth bottleneck, cognitive overload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 dirty="0">
                <a:solidFill>
                  <a:srgbClr val="FFFFFF"/>
                </a:solidFill>
              </a:rPr>
              <a:t>▶  Opportunity: </a:t>
            </a:r>
            <a:endParaRPr lang="en-US" sz="1700" dirty="0">
              <a:solidFill>
                <a:srgbClr val="FFFFFF"/>
              </a:solidFill>
              <a:ea typeface="+mn-lt"/>
              <a:cs typeface="+mn-lt"/>
            </a:endParaRPr>
          </a:p>
          <a:p>
            <a:pPr>
              <a:spcBef>
                <a:spcPts val="500"/>
              </a:spcBef>
            </a:pP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 Combine the formal safety and </a:t>
            </a:r>
            <a:r>
              <a:rPr lang="en-US" sz="1700">
                <a:solidFill>
                  <a:srgbClr val="FFFFFF"/>
                </a:solidFill>
                <a:ea typeface="+mn-lt"/>
                <a:cs typeface="+mn-lt"/>
              </a:rPr>
              <a:t>optimization</a:t>
            </a: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 guarantees of DMPC with the adaptive decision-making capability of </a:t>
            </a:r>
            <a:r>
              <a:rPr lang="en-US" sz="1700">
                <a:solidFill>
                  <a:srgbClr val="FFFFFF"/>
                </a:solidFill>
                <a:ea typeface="+mn-lt"/>
                <a:cs typeface="+mn-lt"/>
              </a:rPr>
              <a:t>Multi -    Agent</a:t>
            </a: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1700">
                <a:solidFill>
                  <a:srgbClr val="FFFFFF"/>
                </a:solidFill>
                <a:ea typeface="+mn-lt"/>
                <a:cs typeface="+mn-lt"/>
              </a:rPr>
              <a:t> </a:t>
            </a: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Reinforcement Learning.</a:t>
            </a:r>
            <a:endParaRPr lang="en-US"/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DMPC handles collision avoidance and trajectory feasibility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MAPPO policy dynamically re-weights cost matrices based on observations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Result: </a:t>
            </a:r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Safe and distributed swarm coordination, Real-time optimization under disturbances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82000"/>
            <a:ext cx="11430000" cy="547072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Given a swarm of N heterogeneous drones, design a control architecture that: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1.  </a:t>
            </a:r>
            <a:r>
              <a:rPr lang="en-US" sz="1500">
                <a:solidFill>
                  <a:srgbClr val="CCCCCC"/>
                </a:solidFill>
              </a:rPr>
              <a:t>Enforces</a:t>
            </a:r>
            <a:r>
              <a:rPr sz="1500">
                <a:solidFill>
                  <a:srgbClr val="CCCCCC"/>
                </a:solidFill>
              </a:rPr>
              <a:t> inter-drone collision avoidance at all times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DMPC with CBF (Control Barrier Function) constraints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2.  </a:t>
            </a:r>
            <a:r>
              <a:rPr sz="1500" dirty="0" err="1">
                <a:solidFill>
                  <a:srgbClr val="CCCCCC"/>
                </a:solidFill>
              </a:rPr>
              <a:t>Maximises</a:t>
            </a:r>
            <a:r>
              <a:rPr sz="1500" dirty="0">
                <a:solidFill>
                  <a:srgbClr val="CCCCCC"/>
                </a:solidFill>
              </a:rPr>
              <a:t> mission-level objectives (coverage, target tracking, battery life)</a:t>
            </a:r>
            <a:endParaRPr sz="1500" dirty="0">
              <a:solidFill>
                <a:srgbClr val="CCCCCC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Multi-agent RL policy adaptively tunes DMPC cost weights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3.  Scales to three operational ISR scenarios: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Area Surveillance (400×400 m, 4 drones)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Threat Response (250×250 m, rapid intercept, 4 drones)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Search-and-Track (600×600 m, mobile target hand-off, 4 drones)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4.  Operates under realistic disturbances: </a:t>
            </a:r>
            <a:endParaRPr lang="en-US" sz="1500">
              <a:solidFill>
                <a:srgbClr val="CCCCCC"/>
              </a:solidFill>
            </a:endParaRPr>
          </a:p>
          <a:p>
            <a:pPr lvl="1">
              <a:spcBef>
                <a:spcPts val="500"/>
              </a:spcBef>
            </a:pPr>
            <a:r>
              <a:rPr lang="en-US" sz="1500">
                <a:solidFill>
                  <a:srgbClr val="CCCCCC"/>
                </a:solidFill>
              </a:rPr>
              <a:t>→ </a:t>
            </a:r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Dryden turbulence, battery degradation</a:t>
            </a:r>
          </a:p>
          <a:p>
            <a:pPr lvl="1">
              <a:spcBef>
                <a:spcPts val="500"/>
              </a:spcBef>
            </a:pPr>
            <a:endParaRPr lang="en-US" sz="1500" dirty="0">
              <a:solidFill>
                <a:srgbClr val="CCCCCC"/>
              </a:solidFill>
              <a:ea typeface="Calibri"/>
              <a:cs typeface="Calibri"/>
            </a:endParaRPr>
          </a:p>
          <a:p>
            <a:r>
              <a:rPr lang="en-US" sz="1500">
                <a:solidFill>
                  <a:srgbClr val="CCCCCC"/>
                </a:solidFill>
                <a:ea typeface="Calibri"/>
                <a:cs typeface="Calibri"/>
              </a:rPr>
              <a:t>    5.</a:t>
            </a:r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Achieving real-time onboard feasibility</a:t>
            </a:r>
            <a:endParaRPr lang="en-US" sz="1500" dirty="0">
              <a:solidFill>
                <a:srgbClr val="CCCCCC"/>
              </a:solidFill>
              <a:ea typeface="+mn-lt"/>
              <a:cs typeface="+mn-lt"/>
            </a:endParaRPr>
          </a:p>
          <a:p>
            <a:pPr lvl="1"/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 → Convex QP solved using OSQP via CVXPY</a:t>
            </a:r>
            <a:endParaRPr lang="en-US">
              <a:ea typeface="+mn-lt"/>
              <a:cs typeface="+mn-lt"/>
            </a:endParaRPr>
          </a:p>
          <a:p>
            <a:pPr lvl="1"/>
            <a:r>
              <a:rPr lang="en-US" sz="1500" dirty="0">
                <a:solidFill>
                  <a:srgbClr val="CCCCCC"/>
                </a:solidFill>
                <a:ea typeface="+mn-lt"/>
                <a:cs typeface="+mn-lt"/>
              </a:rPr>
              <a:t> → Warm-started distributed </a:t>
            </a:r>
            <a:r>
              <a:rPr lang="en-US" sz="1500" dirty="0" err="1">
                <a:solidFill>
                  <a:srgbClr val="CCCCCC"/>
                </a:solidFill>
                <a:ea typeface="+mn-lt"/>
                <a:cs typeface="+mn-lt"/>
              </a:rPr>
              <a:t>optimisation</a:t>
            </a:r>
            <a:endParaRPr lang="en-US" dirty="0" err="1">
              <a:ea typeface="+mn-lt"/>
              <a:cs typeface="+mn-lt"/>
            </a:endParaRPr>
          </a:p>
          <a:p>
            <a:pPr lvl="1">
              <a:spcBef>
                <a:spcPts val="500"/>
              </a:spcBef>
            </a:pPr>
            <a:r>
              <a:rPr lang="en-US" sz="1500">
                <a:solidFill>
                  <a:srgbClr val="CCCCCC"/>
                </a:solidFill>
                <a:ea typeface="+mn-lt"/>
                <a:cs typeface="+mn-lt"/>
              </a:rPr>
              <a:t> → ~0.5–2 </a:t>
            </a:r>
            <a:r>
              <a:rPr lang="en-US" sz="1500" dirty="0" err="1">
                <a:solidFill>
                  <a:srgbClr val="CCCCCC"/>
                </a:solidFill>
                <a:ea typeface="+mn-lt"/>
                <a:cs typeface="+mn-lt"/>
              </a:rPr>
              <a:t>ms</a:t>
            </a:r>
            <a:r>
              <a:rPr lang="en-US" sz="1500" dirty="0">
                <a:solidFill>
                  <a:srgbClr val="CCCCCC"/>
                </a:solidFill>
                <a:ea typeface="+mn-lt"/>
                <a:cs typeface="+mn-lt"/>
              </a:rPr>
              <a:t> solve time per drone at 50 Hz control frequency</a:t>
            </a: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Methodology — DMPC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89816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Distributed Model Predictive Control with CBF safety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43283"/>
            <a:ext cx="11430000" cy="51680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The controller uses a discrete-time </a:t>
            </a:r>
            <a:r>
              <a:rPr lang="en-US" sz="1700" dirty="0" err="1">
                <a:solidFill>
                  <a:srgbClr val="FFFFFF"/>
                </a:solidFill>
                <a:ea typeface="+mn-lt"/>
                <a:cs typeface="+mn-lt"/>
              </a:rPr>
              <a:t>linearised</a:t>
            </a: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 quadrotor model:</a:t>
            </a:r>
            <a:endParaRPr lang="en-US" dirty="0"/>
          </a:p>
          <a:p>
            <a:pPr>
              <a:spcBef>
                <a:spcPts val="500"/>
              </a:spcBef>
            </a:pPr>
            <a:r>
              <a:rPr lang="en-US" sz="1700" b="1">
                <a:solidFill>
                  <a:srgbClr val="FFFFFF"/>
                </a:solidFill>
                <a:ea typeface="+mn-lt"/>
                <a:cs typeface="+mn-lt"/>
              </a:rPr>
              <a:t>         x</a:t>
            </a:r>
            <a:r>
              <a:rPr lang="en-US" sz="1700" baseline="-25000">
                <a:solidFill>
                  <a:srgbClr val="FFFFFF"/>
                </a:solidFill>
                <a:ea typeface="+mn-lt"/>
                <a:cs typeface="+mn-lt"/>
              </a:rPr>
              <a:t>k+1</a:t>
            </a:r>
            <a:r>
              <a:rPr lang="en-US" sz="1700">
                <a:solidFill>
                  <a:srgbClr val="FFFFFF"/>
                </a:solidFill>
                <a:ea typeface="+mn-lt"/>
                <a:cs typeface="+mn-lt"/>
              </a:rPr>
              <a:t>=  A</a:t>
            </a:r>
            <a:r>
              <a:rPr lang="en-US" sz="1700" b="1">
                <a:solidFill>
                  <a:srgbClr val="FFFFFF"/>
                </a:solidFill>
                <a:ea typeface="+mn-lt"/>
                <a:cs typeface="+mn-lt"/>
              </a:rPr>
              <a:t>x</a:t>
            </a:r>
            <a:r>
              <a:rPr lang="en-US" sz="1700" baseline="-25000">
                <a:solidFill>
                  <a:srgbClr val="FFFFFF"/>
                </a:solidFill>
                <a:ea typeface="+mn-lt"/>
                <a:cs typeface="+mn-lt"/>
              </a:rPr>
              <a:t>k</a:t>
            </a:r>
            <a:r>
              <a:rPr lang="en-US" sz="1700">
                <a:solidFill>
                  <a:srgbClr val="FFFFFF"/>
                </a:solidFill>
                <a:ea typeface="+mn-lt"/>
                <a:cs typeface="+mn-lt"/>
              </a:rPr>
              <a:t>+ </a:t>
            </a: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 B</a:t>
            </a:r>
            <a:r>
              <a:rPr lang="en-US" sz="1700" b="1" dirty="0">
                <a:solidFill>
                  <a:srgbClr val="FFFFFF"/>
                </a:solidFill>
                <a:ea typeface="+mn-lt"/>
                <a:cs typeface="+mn-lt"/>
              </a:rPr>
              <a:t>u</a:t>
            </a:r>
            <a:r>
              <a:rPr lang="en-US" sz="1700" baseline="-25000" dirty="0">
                <a:solidFill>
                  <a:srgbClr val="FFFFFF"/>
                </a:solidFill>
                <a:ea typeface="+mn-lt"/>
                <a:cs typeface="+mn-lt"/>
              </a:rPr>
              <a:t>k</a:t>
            </a:r>
            <a:endParaRPr lang="en-US" sz="17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endParaRPr lang="en-US" sz="1700" baseline="-25000" dirty="0">
              <a:solidFill>
                <a:srgbClr val="FFFFFF"/>
              </a:solidFill>
              <a:ea typeface="+mn-lt"/>
              <a:cs typeface="+mn-lt"/>
            </a:endParaRPr>
          </a:p>
          <a:p>
            <a:pPr>
              <a:spcBef>
                <a:spcPts val="500"/>
              </a:spcBef>
            </a:pPr>
            <a:r>
              <a:rPr lang="en-US" sz="1700" dirty="0">
                <a:solidFill>
                  <a:srgbClr val="FFFFFF"/>
                </a:solidFill>
                <a:ea typeface="+mn-lt"/>
                <a:cs typeface="+mn-lt"/>
              </a:rPr>
              <a:t>Each drone uses an 11-dimensional prediction state:</a:t>
            </a:r>
            <a:r>
              <a:rPr lang="en-US" sz="1700" dirty="0">
                <a:solidFill>
                  <a:srgbClr val="FFFFFF"/>
                </a:solidFill>
              </a:rPr>
              <a:t>  </a:t>
            </a:r>
            <a:r>
              <a:rPr sz="1700">
                <a:solidFill>
                  <a:srgbClr val="FFFFFF"/>
                </a:solidFill>
              </a:rPr>
              <a:t>pos, vel, accel, yaw, yaw-rate</a:t>
            </a:r>
            <a:endParaRPr lang="en-US"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700" dirty="0">
                <a:solidFill>
                  <a:srgbClr val="FFFFFF"/>
                </a:solidFill>
              </a:rPr>
              <a:t>MPC objective per drone </a:t>
            </a:r>
            <a:r>
              <a:rPr sz="1700" dirty="0" err="1">
                <a:solidFill>
                  <a:srgbClr val="FFFFFF"/>
                </a:solidFill>
              </a:rPr>
              <a:t>i</a:t>
            </a:r>
            <a:r>
              <a:rPr sz="1700" dirty="0">
                <a:solidFill>
                  <a:srgbClr val="FFFFFF"/>
                </a:solidFill>
              </a:rPr>
              <a:t> at time t:</a:t>
            </a:r>
            <a:endParaRPr sz="1700" dirty="0">
              <a:solidFill>
                <a:srgbClr val="FFFFFF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min  Σₖ  [ (x-xᵣ)ᵀ Q (x-xᵣ) + uᵀ R u ]</a:t>
            </a:r>
            <a:r>
              <a:rPr lang="en-US" sz="1500" dirty="0">
                <a:solidFill>
                  <a:srgbClr val="CCCCCC"/>
                </a:solidFill>
              </a:rPr>
              <a:t> + </a:t>
            </a:r>
            <a:r>
              <a:rPr lang="en-US" sz="1500" dirty="0" err="1">
                <a:solidFill>
                  <a:srgbClr val="CCCCCC"/>
                </a:solidFill>
              </a:rPr>
              <a:t>e</a:t>
            </a:r>
            <a:r>
              <a:rPr lang="en-US" sz="1500" baseline="-25000" dirty="0" err="1">
                <a:solidFill>
                  <a:srgbClr val="CCCCCC"/>
                </a:solidFill>
              </a:rPr>
              <a:t>H</a:t>
            </a:r>
            <a:r>
              <a:rPr lang="en-US" sz="1500" baseline="30000" dirty="0" err="1">
                <a:solidFill>
                  <a:srgbClr val="CCCCCC"/>
                </a:solidFill>
              </a:rPr>
              <a:t>T</a:t>
            </a:r>
            <a:r>
              <a:rPr lang="en-US" sz="1500" dirty="0">
                <a:solidFill>
                  <a:srgbClr val="CCCCCC"/>
                </a:solidFill>
              </a:rPr>
              <a:t> P </a:t>
            </a:r>
            <a:r>
              <a:rPr lang="en-US" sz="1500" dirty="0" err="1">
                <a:solidFill>
                  <a:srgbClr val="CCCCCC"/>
                </a:solidFill>
              </a:rPr>
              <a:t>e</a:t>
            </a:r>
            <a:r>
              <a:rPr lang="en-US" sz="1500" baseline="-25000" dirty="0" err="1">
                <a:solidFill>
                  <a:srgbClr val="CCCCCC"/>
                </a:solidFill>
              </a:rPr>
              <a:t>H</a:t>
            </a:r>
            <a:endParaRPr lang="en-US" sz="1500" baseline="-25000" dirty="0" err="1">
              <a:solidFill>
                <a:srgbClr val="CCCCCC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subject to:  u ∈ [-</a:t>
            </a:r>
            <a:r>
              <a:rPr sz="1500" dirty="0" err="1">
                <a:solidFill>
                  <a:srgbClr val="CCCCCC"/>
                </a:solidFill>
              </a:rPr>
              <a:t>a_max</a:t>
            </a:r>
            <a:r>
              <a:rPr sz="1500" dirty="0">
                <a:solidFill>
                  <a:srgbClr val="CCCCCC"/>
                </a:solidFill>
              </a:rPr>
              <a:t>, </a:t>
            </a:r>
            <a:r>
              <a:rPr sz="1500" dirty="0" err="1">
                <a:solidFill>
                  <a:srgbClr val="CCCCCC"/>
                </a:solidFill>
              </a:rPr>
              <a:t>a_max</a:t>
            </a:r>
            <a:r>
              <a:rPr sz="1500" dirty="0">
                <a:solidFill>
                  <a:srgbClr val="CCCCCC"/>
                </a:solidFill>
              </a:rPr>
              <a:t>]³</a:t>
            </a:r>
            <a:endParaRPr sz="1500" dirty="0">
              <a:solidFill>
                <a:srgbClr val="CCCCCC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‖pᵢ(k) − pⱼ(k)‖ ≥ </a:t>
            </a:r>
            <a:r>
              <a:rPr sz="1500" err="1">
                <a:solidFill>
                  <a:srgbClr val="CCCCCC"/>
                </a:solidFill>
              </a:rPr>
              <a:t>d_safe</a:t>
            </a:r>
            <a:r>
              <a:rPr sz="1500" dirty="0">
                <a:solidFill>
                  <a:srgbClr val="CCCCCC"/>
                </a:solidFill>
              </a:rPr>
              <a:t>  ∀ </a:t>
            </a:r>
            <a:r>
              <a:rPr sz="1500" err="1">
                <a:solidFill>
                  <a:srgbClr val="CCCCCC"/>
                </a:solidFill>
              </a:rPr>
              <a:t>j≠i</a:t>
            </a:r>
            <a:r>
              <a:rPr sz="1500" dirty="0">
                <a:solidFill>
                  <a:srgbClr val="CCCCCC"/>
                </a:solidFill>
              </a:rPr>
              <a:t>  (CBF no-collision</a:t>
            </a:r>
            <a:r>
              <a:rPr lang="en-US" sz="1500" dirty="0">
                <a:solidFill>
                  <a:srgbClr val="CCCCCC"/>
                </a:solidFill>
              </a:rPr>
              <a:t>)</a:t>
            </a:r>
            <a:endParaRPr lang="en-US" sz="1500">
              <a:solidFill>
                <a:srgbClr val="CCCCCC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endParaRPr lang="en-US" sz="1500" dirty="0">
              <a:solidFill>
                <a:srgbClr val="CCCCCC"/>
              </a:solidFill>
              <a:ea typeface="Calibri"/>
              <a:cs typeface="Calibri"/>
            </a:endParaRPr>
          </a:p>
          <a:p>
            <a:r>
              <a:rPr lang="en-US" sz="1600">
                <a:solidFill>
                  <a:srgbClr val="CCCCCC"/>
                </a:solidFill>
                <a:ea typeface="Calibri"/>
                <a:cs typeface="Calibri"/>
              </a:rPr>
              <a:t>e</a:t>
            </a:r>
            <a:r>
              <a:rPr lang="en-US" sz="1600" baseline="-25000">
                <a:solidFill>
                  <a:srgbClr val="CCCCCC"/>
                </a:solidFill>
              </a:rPr>
              <a:t>H</a:t>
            </a:r>
            <a:r>
              <a:rPr lang="en-US" sz="1600" baseline="30000">
                <a:solidFill>
                  <a:srgbClr val="CCCCCC"/>
                </a:solidFill>
              </a:rPr>
              <a:t>T</a:t>
            </a:r>
            <a:r>
              <a:rPr lang="en-US" sz="1600">
                <a:solidFill>
                  <a:srgbClr val="CCCCCC"/>
                </a:solidFill>
                <a:ea typeface="Calibri"/>
                <a:cs typeface="Calibri"/>
              </a:rPr>
              <a:t> P e</a:t>
            </a:r>
            <a:r>
              <a:rPr lang="en-US" sz="1600" baseline="-25000">
                <a:solidFill>
                  <a:srgbClr val="CCCCCC"/>
                </a:solidFill>
                <a:ea typeface="Calibri"/>
                <a:cs typeface="Calibri"/>
              </a:rPr>
              <a:t>H  </a:t>
            </a:r>
            <a:r>
              <a:rPr lang="en-US" sz="1600">
                <a:solidFill>
                  <a:srgbClr val="CCCCCC"/>
                </a:solidFill>
                <a:ea typeface="+mn-lt"/>
                <a:cs typeface="+mn-lt"/>
              </a:rPr>
              <a:t>is the </a:t>
            </a:r>
            <a:r>
              <a:rPr lang="en-US" sz="1600" b="1">
                <a:solidFill>
                  <a:srgbClr val="CCCCCC"/>
                </a:solidFill>
                <a:ea typeface="+mn-lt"/>
                <a:cs typeface="+mn-lt"/>
              </a:rPr>
              <a:t>terminal cost</a:t>
            </a:r>
            <a:r>
              <a:rPr lang="en-US" sz="1600">
                <a:solidFill>
                  <a:srgbClr val="CCCCCC"/>
                </a:solidFill>
                <a:ea typeface="+mn-lt"/>
                <a:cs typeface="+mn-lt"/>
              </a:rPr>
              <a:t> (or terminal penalty) in MPC.</a:t>
            </a:r>
            <a:endParaRPr lang="en-US" sz="160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endParaRPr sz="15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r>
              <a:rPr sz="1700" dirty="0">
                <a:solidFill>
                  <a:srgbClr val="FFFFFF"/>
                </a:solidFill>
              </a:rPr>
              <a:t>ADMM consensus:  </a:t>
            </a:r>
            <a:r>
              <a:rPr sz="1700" dirty="0" err="1">
                <a:solidFill>
                  <a:srgbClr val="FFFFFF"/>
                </a:solidFill>
              </a:rPr>
              <a:t>neighbours</a:t>
            </a:r>
            <a:r>
              <a:rPr sz="1700" dirty="0">
                <a:solidFill>
                  <a:srgbClr val="FFFFFF"/>
                </a:solidFill>
              </a:rPr>
              <a:t> negotiate control proposals over L iterations</a:t>
            </a:r>
            <a:endParaRPr sz="1700" dirty="0">
              <a:solidFill>
                <a:srgbClr val="FFFFFF"/>
              </a:solidFill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• Blended output: </a:t>
            </a:r>
            <a:r>
              <a:rPr sz="1500" dirty="0" err="1">
                <a:solidFill>
                  <a:srgbClr val="CCCCCC"/>
                </a:solidFill>
              </a:rPr>
              <a:t>u_i</a:t>
            </a:r>
            <a:r>
              <a:rPr sz="1500" dirty="0">
                <a:solidFill>
                  <a:srgbClr val="CCCCCC"/>
                </a:solidFill>
              </a:rPr>
              <a:t> = 0.8 · </a:t>
            </a:r>
            <a:r>
              <a:rPr sz="1500" dirty="0" err="1">
                <a:solidFill>
                  <a:srgbClr val="CCCCCC"/>
                </a:solidFill>
              </a:rPr>
              <a:t>u_DMPC</a:t>
            </a:r>
            <a:r>
              <a:rPr sz="1500" dirty="0">
                <a:solidFill>
                  <a:srgbClr val="CCCCCC"/>
                </a:solidFill>
              </a:rPr>
              <a:t> + 0.2 · </a:t>
            </a:r>
            <a:r>
              <a:rPr sz="1500" dirty="0" err="1">
                <a:solidFill>
                  <a:srgbClr val="CCCCCC"/>
                </a:solidFill>
              </a:rPr>
              <a:t>u_consensus</a:t>
            </a:r>
            <a:endParaRPr sz="1500" dirty="0" err="1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 dirty="0">
                <a:solidFill>
                  <a:srgbClr val="FFFFFF"/>
                </a:solidFill>
              </a:rPr>
              <a:t>Solver:  OSQP via CVXPY (DPP-compiled, warm-started) — ~0.5–2 </a:t>
            </a:r>
            <a:r>
              <a:rPr sz="1700" dirty="0" err="1">
                <a:solidFill>
                  <a:srgbClr val="FFFFFF"/>
                </a:solidFill>
              </a:rPr>
              <a:t>ms</a:t>
            </a:r>
            <a:r>
              <a:rPr sz="1700" dirty="0">
                <a:solidFill>
                  <a:srgbClr val="FFFFFF"/>
                </a:solidFill>
              </a:rPr>
              <a:t> per drone</a:t>
            </a:r>
            <a:endParaRPr sz="1700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Horizon: H = 20 steps  ·  dt = 0.02 s  ·  50 Hz control loop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Methodology — RL Layer (MAPPO)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MAPPO policy outputs per-drone Q/R scale factors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Architecture:  Shared actor-critic (Centralised Training / Decentralised Execution)</a:t>
            </a:r>
          </a:p>
          <a:p>
            <a:pPr>
              <a:spcBef>
                <a:spcPts val="5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Observation (40-D per drone):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[own state (11), ref_pos (3), ref_vel (3), tracking error (3),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nearest-neighbour Δp,Δv (6), mean swarm offset (3), battery (1),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health (1), last control (3), ADMM residual (3), solve time (1),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collision margin (1), mission progress (1)]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Action (14-D per drone):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[q_scale (11) × R diagonal, r_scale (3) × R diagonal]  ∈ [0.1, 10.0]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Training:  SB3 PPO  ·  shared policy weights across all drones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Reward: r = W_track·r_track + W_form·r_form + W_safe·r_safe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+ W_eff·r_eff + W_cov·r_cov    (scenario-specific weights)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Methodology — Staggered Drone Launch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All drones spawn at the same home position, launched at fixed intervals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Problem: launching N drones simultaneously from the same point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→ all pairs at distance 0 → CBF constraints immediately violated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Solution — Staggered sequential launch: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• All drones initialise at home position [0, 0, HOME_ALT]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• Drone i activates at step  launch_step[i] = i × spawn_interval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• Default: spawn_interval = 50 steps = 1 s at 50 Hz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• Before launch: drone stays frozen at home, excluded from DMPC neighbour lists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• After launch:  DMPC controls the drone toward its mission waypoint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Guarantee:  drone i-1 has at least  v_cruise × T_interval ≈ 8 m/s × 1 s = 8 m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of separation before drone i activates  (&gt; d_safe = 3 m ✓)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63041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1.  CVXPY DPP compliance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Required reformulating CBF constraints as linear parameter-affine expressions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Enables OSQP problem caching → 10× faster solve time on repeat calls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2.  ADMM convergence under asynchronous execution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Consensus rounds must complete within the 20 ms control budget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Solution: fixed 5-iteration ADMM with soft blending (α = 0.8/0.2)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3.  Reward design for multi-objective MARL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Naive tracking reward (exp(err) − 1) was always ≤ 0; removed learning signal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Replaced with positive exp-decay + separate formation/safety/coverage terms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4.  Sim-to-real gap in physics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Dryden wind turbulence + motor saturation modelled but not fully validated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Battery depletion model based on hector_quadrotor datasheet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5.  Scalability beyond 4 drones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DMPC complexity grows O(N²) in CBF constraints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Mitigated by limiting neighbour list to k nearest drones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Results &amp;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Comparison across three ISR scenarios  (N=4 drones, 1 episode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Metric                    Pure DMPC       DMPC-RL (MAPPO)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Mean reward               baseline        +12–18% vs DMPC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Mean coverage %           area_surv: 62%  area_surv: 74%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Threat response time      —               −8% time-to-intercept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DMPC solve time (ms)      0.8–1.5 ms      0.9–1.6 ms  (+RL overhead)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Collision events          0               0  (CBF guaranteed)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Battery efficiency        —               +5% (fewer wasted accelerations)</a:t>
            </a:r>
          </a:p>
          <a:p>
            <a:pPr>
              <a:spcBef>
                <a:spcPts val="5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Key observations: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RL adaptation most beneficial in search_and_track (dynamic targets)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Formation reward keeps drones well-separated without artificial grids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Battery penalty reduces aggressive corrections without hurting tracking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Zero collisions in all runs — CBF layer never violated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Novelty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23821"/>
            <a:ext cx="11430000" cy="457561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1.  Cost-matrix adaptation via MARL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Unlike prior work that fixes Q, R: MAPPO outputs  per-drone, per-step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multiplicative scale factors, making the DMPC cost time-varying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2.  Safe-by-construction architecture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CBF constraints are never relaxed; RL only shapes the cost landscape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Collision avoidance holds regardless of policy quality</a:t>
            </a: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3.  Staggered home-position spawning protocol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Novel launch sequencing that satisfies CBF constraints from t = 0</a:t>
            </a:r>
          </a:p>
          <a:p>
            <a:pPr lvl="1">
              <a:spcBef>
                <a:spcPts val="500"/>
              </a:spcBef>
            </a:pPr>
            <a:r>
              <a:rPr sz="1500" dirty="0">
                <a:solidFill>
                  <a:srgbClr val="CCCCCC"/>
                </a:solidFill>
              </a:rPr>
              <a:t>— </a:t>
            </a:r>
            <a:r>
              <a:rPr sz="1500" dirty="0" err="1">
                <a:solidFill>
                  <a:srgbClr val="CCCCCC"/>
                </a:solidFill>
              </a:rPr>
              <a:t>Generalisable</a:t>
            </a:r>
            <a:r>
              <a:rPr sz="1500" dirty="0">
                <a:solidFill>
                  <a:srgbClr val="CCCCCC"/>
                </a:solidFill>
              </a:rPr>
              <a:t> to any home-basing strategy (carrier drone, landing pad)</a:t>
            </a:r>
            <a:endParaRPr sz="1500" dirty="0">
              <a:solidFill>
                <a:srgbClr val="CCCCCC"/>
              </a:solidFill>
              <a:ea typeface="Calibri"/>
              <a:cs typeface="Calibri"/>
            </a:endParaRPr>
          </a:p>
          <a:p>
            <a:pPr>
              <a:spcBef>
                <a:spcPts val="500"/>
              </a:spcBef>
            </a:pPr>
            <a:endParaRPr sz="1500">
              <a:solidFill>
                <a:srgbClr val="CCCCCC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4.  Scenario-aware reward shaping without hand-tuning per drone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Shared MAPPO policy trained once, deployed across all three ISR scenarios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— Scenario context embedded in observation rather than separate policies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114300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50876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Designed and implemented a fully functional MAPPO-adaptive DMPC swarm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Demonstrated on three realistic ISR scenarios (coverage, threat, search)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CBF-guaranteed collision avoidance with zero violations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RL policy consistently improves mission reward over pure DMPC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Staggered launch protocol ensures safe simultaneous deployment from one pad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✓  Open-source PyBullet simulation with video recording for reproducibility</a:t>
            </a:r>
          </a:p>
          <a:p>
            <a:pPr>
              <a:spcBef>
                <a:spcPts val="500"/>
              </a:spcBef>
            </a:pPr>
            <a:endParaRPr sz="170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Future work: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Hardware-in-the-loop testing on real hector_quadrotor platforms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Extend to 8–12 drone swarms with scalable ADMM partitioning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Incorporate communication-delay and packet-loss models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Transfer to outdoor GPS-denied environments using EKF localisation</a:t>
            </a:r>
          </a:p>
          <a:p>
            <a:pPr lvl="1">
              <a:spcBef>
                <a:spcPts val="500"/>
              </a:spcBef>
            </a:pPr>
            <a:r>
              <a:rPr sz="1500">
                <a:solidFill>
                  <a:srgbClr val="CCCCCC"/>
                </a:solidFill>
              </a:rPr>
              <a:t>▶  Investigate sim-to-real transfer with domain randomisation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00B4D8"/>
                </a:solidFill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Repository:  github.com/Cornerstone-swarm-drones/isr-rl-dmpc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7788"/>
                </a:solidFill>
              </a:rPr>
              <a:t>ISR-RL-DMPC  ·  Swarm Intelligence Research  ·  2024-2025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106</cp:revision>
  <dcterms:created xsi:type="dcterms:W3CDTF">2013-01-27T09:14:16Z</dcterms:created>
  <dcterms:modified xsi:type="dcterms:W3CDTF">2026-05-07T15:36:09Z</dcterms:modified>
  <cp:category/>
</cp:coreProperties>
</file>