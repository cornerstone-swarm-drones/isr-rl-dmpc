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ISR-RL-DMPC: Mathematical Architecture for Multi-Drone ISR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Motivation • Problem Statement • Methodology • Challenges • Results &amp; Analysis • Novelty • Conclusion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Presentation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Motivation and problem formulation for autonomous ISR swarms</a:t>
            </a:r>
          </a:p>
          <a:p>
            <a:pPr>
              <a:defRPr sz="1800"/>
            </a:pPr>
            <a:r>
              <a:t>Methodology: end-to-end pipeline and module-level mathematics</a:t>
            </a:r>
          </a:p>
          <a:p>
            <a:pPr>
              <a:defRPr sz="1800"/>
            </a:pPr>
            <a:r>
              <a:t>Challenges, result-analysis templates, novelty, and conclusions</a:t>
            </a:r>
          </a:p>
          <a:p>
            <a:pPr>
              <a:defRPr sz="1800"/>
            </a:pPr>
            <a:r>
              <a:t>All quantitative plots/tables are placeholders for code-generated outputs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ISR missions require persistent coverage, threat response, and search under uncertainty with strict safety constraints.</a:t>
            </a:r>
          </a:p>
          <a:p>
            <a:pPr>
              <a:defRPr sz="1800"/>
            </a:pPr>
            <a:r>
              <a:t>Pure DMPC: safe and interpretable but static cost design (Q, R) limits adaptation to changing mission context.</a:t>
            </a:r>
          </a:p>
          <a:p>
            <a:pPr>
              <a:defRPr sz="1800"/>
            </a:pPr>
            <a:r>
              <a:t>Pure RL: adaptive but difficult to guarantee collision avoidance and real-time feasibility.</a:t>
            </a:r>
          </a:p>
          <a:p>
            <a:pPr>
              <a:defRPr sz="1800"/>
            </a:pPr>
            <a:r>
              <a:t>Project thesis: keep convex control guarantees while adding adaptive cost shaping through MAPPO.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Given N drones, compute safe controls u_i(t) at 50 Hz while maximizing mission utility across area_surveillance, threat_response, and search_and_track.</a:t>
            </a:r>
          </a:p>
          <a:p>
            <a:pPr>
              <a:defRPr sz="1800"/>
            </a:pPr>
            <a:r>
              <a:t>Per-drone optimization: min Σ_{k=0}^{H-1}[e_k^T Q_eff e_k + u_k^T R_eff u_k] + e_H^T P e_H</a:t>
            </a:r>
          </a:p>
          <a:p>
            <a:pPr>
              <a:defRPr sz="1800"/>
            </a:pPr>
            <a:r>
              <a:t>Subject to dynamics x_{k+1}=Ax_k+Bu_k, actuator bounds, and inter-drone safety constraints.</a:t>
            </a:r>
          </a:p>
          <a:p>
            <a:pPr>
              <a:defRPr sz="1800"/>
            </a:pPr>
            <a:r>
              <a:t>Need distributed coordination + real-time solvability + uncertainty-aware perception + task-level decision flow.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 Overview: Integrated Control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Perception/Decision modules → MAPPO cost scaling → ADMM consensus → per-drone DMPC QP → SO(3) attitude/motor commands.</a:t>
            </a:r>
          </a:p>
          <a:p>
            <a:pPr>
              <a:defRPr sz="1800"/>
            </a:pPr>
            <a:r>
              <a:t>Observation (40-D/drone) and action (14-D/drone) connect MARL and DMPC without breaking convexity.</a:t>
            </a:r>
          </a:p>
          <a:p>
            <a:pPr>
              <a:defRPr sz="1800"/>
            </a:pPr>
            <a:r>
              <a:t>Consensus variable v aligns local proposals z_i across drones: z-update, v-update, dual update.</a:t>
            </a:r>
          </a:p>
          <a:p>
            <a:pPr>
              <a:defRPr sz="1800"/>
            </a:pPr>
            <a:r>
              <a:t>Pipeline target: mathematically coupled yet modular architecture with explicit interfaces.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1: Mission Planner (Coverage Planning)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Grid decomposition over mission polygon B with cell size r; include cell if centroid c lies inside B.</a:t>
            </a:r>
          </a:p>
          <a:p>
            <a:pPr>
              <a:defRPr sz="1800"/>
            </a:pPr>
            <a:r>
              <a:t>Priority model: π_c = clip(exp(-||c-c_area||/(s/10)), 0.1, 1.0).</a:t>
            </a:r>
          </a:p>
          <a:p>
            <a:pPr>
              <a:defRPr sz="1800"/>
            </a:pPr>
            <a:r>
              <a:t>Cell-to-drone assignment (greedy spatial): j* = argmin_j ||c - p_j||.</a:t>
            </a:r>
          </a:p>
          <a:p>
            <a:pPr>
              <a:defRPr sz="1800"/>
            </a:pPr>
            <a:r>
              <a:t>Waypoint path generation (nearest/sweep/spiral) feeds scenario references for downstream control.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2: Formation Controller (Consensus Geometry)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Control law: u_i = k_p(p_i^des-p_i) - k_d v_i + k_c( p̄_N(i) - p_i ).</a:t>
            </a:r>
          </a:p>
          <a:p>
            <a:pPr>
              <a:defRPr sz="1800"/>
            </a:pPr>
            <a:r>
              <a:t>Communication graph G=(V,E), adjacency by communication radius; Laplacian L drives consensus behavior.</a:t>
            </a:r>
          </a:p>
          <a:p>
            <a:pPr>
              <a:defRPr sz="1800"/>
            </a:pPr>
            <a:r>
              <a:t>Supported formations (line, wedge, circular, grid, sphere) define p_i^des as geometric offsets from center/heading.</a:t>
            </a:r>
          </a:p>
          <a:p>
            <a:pPr>
              <a:defRPr sz="1800"/>
            </a:pPr>
            <a:r>
              <a:t>Output is formation-compatible acceleration prior that integrates with mission references and safety layers.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3: Sensor Fusion (EKF Stack)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Predict/update recursion: x^- = f(x,u), P^- = FPF^T+Q; K=P^-H^T(HP^-H^T+R)^{-1}.</a:t>
            </a:r>
          </a:p>
          <a:p>
            <a:pPr>
              <a:defRPr sz="1800"/>
            </a:pPr>
            <a:r>
              <a:t>Drone estimation combines 6-D position/velocity EKF + quaternion attitude filter + angular-rate/battery/health states (18-D total).</a:t>
            </a:r>
          </a:p>
          <a:p>
            <a:pPr>
              <a:defRPr sz="1800"/>
            </a:pPr>
            <a:r>
              <a:t>Target tracking uses 11-D EKF per target with radar/optical/RF/acoustic measurement models.</a:t>
            </a:r>
          </a:p>
          <a:p>
            <a:pPr>
              <a:defRPr sz="1800"/>
            </a:pPr>
            <a:r>
              <a:t>Provides state + covariance to classification, threat scoring, and decision/control modules.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4: Classification Engine (Bayesian Inference)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Posterior update per class C: P(C|F) ∝ P(F|C)·P(C) over signal, motion, and size features.</a:t>
            </a:r>
          </a:p>
          <a:p>
            <a:pPr>
              <a:defRPr sz="1800"/>
            </a:pPr>
            <a:r>
              <a:t>Feature extraction normalizes sensor outputs and attaches confidence weights before fusion.</a:t>
            </a:r>
          </a:p>
          <a:p>
            <a:pPr>
              <a:defRPr sz="1800"/>
            </a:pPr>
            <a:r>
              <a:t>Confidence evolution uses measurement history to stabilize classifications over time.</a:t>
            </a:r>
          </a:p>
          <a:p>
            <a:pPr>
              <a:defRPr sz="1800"/>
            </a:pPr>
            <a:r>
              <a:t>Classification posteriors become direct inputs to threat scoring and task prioritization.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5: Threat Assessor (Risk Scoring)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Composite score: S = 100·(w_rf s_rf + w_mot s_mot + w_pos s_pos + w_cls s_cls), clipped to [0,100].</a:t>
            </a:r>
          </a:p>
          <a:p>
            <a:pPr>
              <a:defRPr sz="1800"/>
            </a:pPr>
            <a:r>
              <a:t>Components model RF characteristics, kinematics, proximity/altitude risk, and classification confidence.</a:t>
            </a:r>
          </a:p>
          <a:p>
            <a:pPr>
              <a:defRPr sz="1800"/>
            </a:pPr>
            <a:r>
              <a:t>Threat levels map score bands to operational urgency (negligible → critical).</a:t>
            </a:r>
          </a:p>
          <a:p>
            <a:pPr>
              <a:defRPr sz="1800"/>
            </a:pPr>
            <a:r>
              <a:t>Prioritized threat list is consumed by task allocation and interception logic.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6: Task Allocator (Hungarian Assignment)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Optimization: min_X Σ_i Σ_j C_ij X_ij with one-to-one assignment constraints.</a:t>
            </a:r>
          </a:p>
          <a:p>
            <a:pPr>
              <a:defRPr sz="1800"/>
            </a:pPr>
            <a:r>
              <a:t>Cost model combines distance, fuel, load, sensor-fit, and priority bonus with feasibility checks.</a:t>
            </a:r>
          </a:p>
          <a:p>
            <a:pPr>
              <a:defRPr sz="1800"/>
            </a:pPr>
            <a:r>
              <a:t>Hungarian method uses dual potentials and augmenting paths (O(n^3)); rectangular cases use padded costs.</a:t>
            </a:r>
          </a:p>
          <a:p>
            <a:pPr>
              <a:defRPr sz="1800"/>
            </a:pPr>
            <a:r>
              <a:t>Assignments map drones to detect/classify/track/cover/transit tasks for control execution.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7: ADMM Consensus (Distributed Coupling)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Consensus problem: min Σ_i f_i(z_i) s.t. z_i = v.</a:t>
            </a:r>
          </a:p>
          <a:p>
            <a:pPr>
              <a:defRPr sz="1800"/>
            </a:pPr>
            <a:r>
              <a:t>Augmented Lagrangian: L_ρ = Σ_i[f_i(z_i)+μ_i^T(z_i-v)+(ρ/2)||z_i-v||^2].</a:t>
            </a:r>
          </a:p>
          <a:p>
            <a:pPr>
              <a:defRPr sz="1800"/>
            </a:pPr>
            <a:r>
              <a:t>Iteration: z_i^{k+1} update (parallel), v^{k+1}=mean(z_i^{k+1}+y_i^k), y_i^{k+1}=y_i^k+z_i^{k+1}-v^{k+1}.</a:t>
            </a:r>
          </a:p>
          <a:p>
            <a:pPr>
              <a:defRPr sz="1800"/>
            </a:pPr>
            <a:r>
              <a:t>Outputs consensus-adjusted proposal and residual diagnostics for MARL observation.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8: DMPC Controller (Convex Core)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QP solved by CVXPY/OSQP with DPP-compliant parameterization and warm-started repeated solves.</a:t>
            </a:r>
          </a:p>
          <a:p>
            <a:pPr>
              <a:defRPr sz="1800"/>
            </a:pPr>
            <a:r>
              <a:t>Dynamics: x_{k+1}=Ax_k+Bu_k; cost uses Q_eff, R_eff; terminal P from DARE solve_discrete_are.</a:t>
            </a:r>
          </a:p>
          <a:p>
            <a:pPr>
              <a:defRPr sz="1800"/>
            </a:pPr>
            <a:r>
              <a:t>Cost adaptation from MAPPO: Q_eff = Q ⊙ diag(q_scale), R_eff = R ⊙ diag(r_scale), scales clipped to [0.1,10].</a:t>
            </a:r>
          </a:p>
          <a:p>
            <a:pPr>
              <a:defRPr sz="1800"/>
            </a:pPr>
            <a:r>
              <a:t>Collision safety enforced through linearized barrier-style constraints against neighbor positions.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9: Attitude Controller (SO(3) Geometric)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Outer loop: a_des = a_ref - Kp_pos(p-p_ref) - Kd_pos(v-v_ref).</a:t>
            </a:r>
          </a:p>
          <a:p>
            <a:pPr>
              <a:defRPr sz="1800"/>
            </a:pPr>
            <a:r>
              <a:t>Attitude error: e_R = 0.5·vex(R_d^TR - R^TR_d), angular error e_ω = ω - R^TR_dω_d.</a:t>
            </a:r>
          </a:p>
          <a:p>
            <a:pPr>
              <a:defRPr sz="1800"/>
            </a:pPr>
            <a:r>
              <a:t>Torque law: τ = -Kp_att e_R - Kd_att e_ω + ω×(Jω).</a:t>
            </a:r>
          </a:p>
          <a:p>
            <a:pPr>
              <a:defRPr sz="1800"/>
            </a:pPr>
            <a:r>
              <a:t>Motor mixing maps [F,τx,τy,τz] to rotor thrusts with actuator saturation constraints.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10: DMPC Analytics (Performance Diagnostics)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Per-step records: tracking error, objective value, solve status/time, applied controls.</a:t>
            </a:r>
          </a:p>
          <a:p>
            <a:pPr>
              <a:defRPr sz="1800"/>
            </a:pPr>
            <a:r>
              <a:t>Aggregate metrics: RMSE tracking, solve success rate, mean solve time, objective trends.</a:t>
            </a:r>
          </a:p>
          <a:p>
            <a:pPr>
              <a:defRPr sz="1800"/>
            </a:pPr>
            <a:r>
              <a:t>Finite-difference sensitivity: ∂f/∂θ ≈ (f(θ+εe_i)-f(θ-εe_i))/(2ε).</a:t>
            </a:r>
          </a:p>
          <a:p>
            <a:pPr>
              <a:defRPr sz="1800"/>
            </a:pPr>
            <a:r>
              <a:t>Provides analysis artifacts for algorithm comparison and tuning loops.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MAPPO Module: Adaptive Cost Policy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CTDE setup: shared actor π_θ(o_i) for decentralized actions, critic V_φ(o_1...o_N) for training stability.</a:t>
            </a:r>
          </a:p>
          <a:p>
            <a:pPr>
              <a:defRPr sz="1800"/>
            </a:pPr>
            <a:r>
              <a:t>PPO objective uses clipped ratio r_t(θ) with GAE advantages for low-variance policy gradients.</a:t>
            </a:r>
          </a:p>
          <a:p>
            <a:pPr>
              <a:defRPr sz="1800"/>
            </a:pPr>
            <a:r>
              <a:t>Action output per drone: 14-D = [q_scale(11), r_scale(3)] controlling DMPC cost emphasis online.</a:t>
            </a:r>
          </a:p>
          <a:p>
            <a:pPr>
              <a:defRPr sz="1800"/>
            </a:pPr>
            <a:r>
              <a:t>Reward combines tracking, formation, safety, efficiency, and coverage terms with scenario-specific weights.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 Flow Integration (Step-Level)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At each control step: update references → MAPPO scales costs → DMPC local proposals → ADMM consensus → actuation.</a:t>
            </a:r>
          </a:p>
          <a:p>
            <a:pPr>
              <a:defRPr sz="1800"/>
            </a:pPr>
            <a:r>
              <a:t>Parallel data loop: sensors → EKF fusion → classification → threat scoring → task allocation → updated references.</a:t>
            </a:r>
          </a:p>
          <a:p>
            <a:pPr>
              <a:defRPr sz="1800"/>
            </a:pPr>
            <a:r>
              <a:t>Staggered launch activation controls startup safety by delaying drone i to step i·spawn_interval.</a:t>
            </a:r>
          </a:p>
          <a:p>
            <a:pPr>
              <a:defRPr sz="1800"/>
            </a:pPr>
            <a:r>
              <a:t>Mathematical coupling: estimation uncertainty informs decisions, decisions shape references, references shape control QP.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Convexity + adaptability trade-off: keep safety constraints/solver structure while allowing online weight adaptation.</a:t>
            </a:r>
          </a:p>
          <a:p>
            <a:pPr>
              <a:defRPr sz="1800"/>
            </a:pPr>
            <a:r>
              <a:t>Distributed consistency: ADMM iterations must converge under strict per-step real-time budget.</a:t>
            </a:r>
          </a:p>
          <a:p>
            <a:pPr>
              <a:defRPr sz="1800"/>
            </a:pPr>
            <a:r>
              <a:t>Partial observability and uncertainty: classification/threat quality depends on fused multi-sensor confidence.</a:t>
            </a:r>
          </a:p>
          <a:p>
            <a:pPr>
              <a:defRPr sz="1800"/>
            </a:pPr>
            <a:r>
              <a:t>Scalability: pairwise safety and assignment complexity growth with swarm size.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and Analysis (Placeholders to Fill)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[Insert Table] Scenario-wise metrics from scripts/run_dmpc.py and scripts/run_dmpc_rl.py outputs.</a:t>
            </a:r>
          </a:p>
          <a:p>
            <a:pPr>
              <a:defRPr sz="1800"/>
            </a:pPr>
            <a:r>
              <a:t>[Insert Plot] Reward component trends (tracking/formation/safety/efficiency/coverage) vs timestep.</a:t>
            </a:r>
          </a:p>
          <a:p>
            <a:pPr>
              <a:defRPr sz="1800"/>
            </a:pPr>
            <a:r>
              <a:t>[Insert Plot] DMPC solve time and ADMM residual convergence statistics.</a:t>
            </a:r>
          </a:p>
          <a:p>
            <a:pPr>
              <a:defRPr sz="1800"/>
            </a:pPr>
            <a:r>
              <a:t>[Insert Plot] Coverage progression and task-completion timelines per scenario. (No fabricated values included.)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Novelty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Hybrid architecture where RL adapts cost geometry instead of replacing constrained optimal control.</a:t>
            </a:r>
          </a:p>
          <a:p>
            <a:pPr>
              <a:defRPr sz="1800"/>
            </a:pPr>
            <a:r>
              <a:t>Consensus-aware MARL-DMPC coupling: MAPPO + ADMM + DPP-compliant MPC reuse for real-time operation.</a:t>
            </a:r>
          </a:p>
          <a:p>
            <a:pPr>
              <a:defRPr sz="1800"/>
            </a:pPr>
            <a:r>
              <a:t>End-to-end ISR pipeline with explicit mathematical interfaces across planning, perception, decision, and control.</a:t>
            </a:r>
          </a:p>
          <a:p>
            <a:pPr>
              <a:defRPr sz="1800"/>
            </a:pPr>
            <a:r>
              <a:t>Staggered launch and modular analytics integrated directly into closed-loop training/evaluation environment.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The project delivers a mathematically grounded ISR swarm stack from sensing to control with modular rigor.</a:t>
            </a:r>
          </a:p>
          <a:p>
            <a:pPr>
              <a:defRPr sz="1800"/>
            </a:pPr>
            <a:r>
              <a:t>Methodology emphasizes safe optimization, distributed coordination, and adaptive objective shaping.</a:t>
            </a:r>
          </a:p>
          <a:p>
            <a:pPr>
              <a:defRPr sz="1800"/>
            </a:pPr>
            <a:r>
              <a:t>Next: populate result placeholders using reproducible experiment scripts and scenario-specific evaluation notebooks.</a:t>
            </a:r>
          </a:p>
          <a:p>
            <a:pPr>
              <a:defRPr sz="1800"/>
            </a:pPr>
            <a:r>
              <a:t>Q&amp;A / Appendix: add module-specific derivations or implementation traces as needed.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