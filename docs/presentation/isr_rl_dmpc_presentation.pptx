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74720"/>
            <a:ext cx="12188952" cy="3383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</a:rPr>
              <a:t>ISR-RL-DMPC
Swarm Intelligence for Multi-Drone ISR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926080"/>
            <a:ext cx="4572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108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CCCCC"/>
                </a:solidFill>
              </a:rPr>
              <a:t>Reinforcement Learning–Adaptive Distributed Model Predictive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035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99AA"/>
                </a:solidFill>
              </a:rPr>
              <a:t>Cornerstone Swarm Drones  ·  2024-2025  ·  Capstone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Equal-proportionate module ownership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Student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Student A — DMPC Core &amp; Optimisation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Distributed Model Predictive Control (DMPC) framework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MPC cost matrices Q, R — DPP-compliant CVXPY formulation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CBF-based inter-drone collision constraints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ADMM consensus protocol for cooperative trajectory planning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EnvironmentSimulator 6-DOF physics engine (rigid-body, wind, battery)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Student B — RL Policy &amp; Training Infrastructure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MAPPO multi-agent policy architecture (shared actor-critic)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MARLDMPCEnv Gymnasium environment (OBS=40-D, ACT=14-D per drone)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Scenario-specific reward functions (tracking, formation, coverage)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Stable-Baselines3 PPO training pipeline and evaluation scripts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FFFFFF"/>
                </a:solidFill>
              </a:rPr>
              <a:t>  • Observation space design — nearest-neighbour, battery, ADMM residuals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15087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Student C — Simulation, Visualisation &amp; Integration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PyBullet 3-D visualisation (drone URDFs, target markers, trail lines)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Staggered home-position spawning for safe sequential drone launch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Auto-follow camera with exponential smoothing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PyBullet video recording (MP4) per scenario / episode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Mission scenario YAML configs (area_surveillance, threat_response,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  search_and_track)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CLI runners: run_dmpc.py, run_dmpc_rl.py, swarm_pybullet_sim.py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  • Trajectory planners (lawnmower, circular patrol, expanding-square)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Shared work  —  system integration, testing, documentation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Why swarm drones for ISR?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Intelligence, Surveillance &amp; Reconnaissance (ISR) demands scalable autonomy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▶  Growing demand for persistent, wide-area aerial surveillance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Border monitoring, critical infrastructure, disaster response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Single-drone systems are fragile; swarms provide redundancy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▶  Limitations of current approaches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Classical DMPC: fixed cost weights, no online adaptation to changing conditions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Pure RL: black-box policies, hard to guarantee safety constraints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Human-in-the-loop: bandwidth bottleneck, cognitive overload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▶  Opportunity: Marry the hard guarantees of DMPC with the adaptability of RL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DMPC handles collision avoidance and trajectory feasibility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MAPPO policy dynamically re-weights cost matrices based on observations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Result: safe-by-construction swarm that learns to be more efficient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What are we solving?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Given a swarm of N heterogeneous drones, design a control architecture that: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1.  Guarantees inter-drone collision avoidance at all times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DMPC with CBF (Control Barrier Function) constraints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2.  Maximises mission-level objectives (coverage, target tracking, battery life)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Multi-agent RL policy adaptively tunes DMPC cost weights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3.  Scales to three operational ISR scenarios: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Area Surveillance (400×400 m, 4 drones)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Threat Response (250×250 m, rapid intercept, 4 drones)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Search-and-Track (600×600 m, mobile target hand-off, 4 drones)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4.  Operates under realistic disturbances: Dryden turbulence, battery degradation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DMPC + MAPPO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Methodology — DMPC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Distributed Model Predictive Control with CBF safety constraints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System model:  ẋ = Ax + Bu  (linear, 11-state: pos, vel, accel, yaw, yaw-rate)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MPC objective per drone i at time t: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min  Σₖ  [ (x-xᵣ)ᵀ Q (x-xᵣ) + uᵀ R u ]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subject to:  u ∈ [-a_max, a_max]³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‖pᵢ(k) − pⱼ(k)‖ ≥ d_safe  ∀ j≠i  (CBF no-collision)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ADMM consensus:  neighbours negotiate control proposals over L iterations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Blended output: u_i = 0.8 · u_DMPC + 0.2 · u_consensus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Solver:  OSQP via CVXPY (DPP-compiled, warm-started) — ~0.5–2 ms per drone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Horizon: H = 20 steps  ·  dt = 0.02 s  ·  50 Hz control loop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Methodology — RL Layer (MAPPO)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MAPPO policy outputs per-drone Q/R scale factors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Architecture:  Shared actor-critic (Centralised Training / Decentralised Execution)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Observation (40-D per drone):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[own state (11), ref_pos (3), ref_vel (3), tracking error (3),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nearest-neighbour Δp,Δv (6), mean swarm offset (3), battery (1),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health (1), last control (3), ADMM residual (3), solve time (1),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collision margin (1), mission progress (1)]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Action (14-D per drone):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[q_scale (11) × R diagonal, r_scale (3) × R diagonal]  ∈ [0.1, 10.0]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Training:  SB3 PPO  ·  shared policy weights across all drones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Reward: r = W_track·r_track + W_form·r_form + W_safe·r_safe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+ W_eff·r_eff + W_cov·r_cov    (scenario-specific weights)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Methodology — Staggered Drone Launch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All drones spawn at the same home position, launched at fixed intervals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Problem: launching N drones simultaneously from the same point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→ all pairs at distance 0 → CBF constraints immediately violated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Solution — Staggered sequential launch: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All drones initialise at home position [0, 0, HOME_ALT]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Drone i activates at step  launch_step[i] = i × spawn_interval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Default: spawn_interval = 50 steps = 1 s at 50 Hz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Before launch: drone stays frozen at home, excluded from DMPC neighbour lists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• After launch:  DMPC controls the drone toward its mission waypoint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Guarantee:  drone i-1 has at least  v_cruise × T_interval ≈ 8 m/s × 1 s = 8 m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of separation before drone i activates  (&gt; d_safe = 3 m ✓)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Technical hurdles encountered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1.  CVXPY DPP compliance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Required reformulating CBF constraints as linear parameter-affine expressions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Enables OSQP problem caching → 10× faster solve time on repeat calls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2.  ADMM convergence under asynchronous execution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Consensus rounds must complete within the 20 ms control budget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Solution: fixed 5-iteration ADMM with soft blending (α = 0.8/0.2)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3.  Reward design for multi-objective MARL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Naive tracking reward (exp(err) − 1) was always ≤ 0; removed learning signal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Replaced with positive exp-decay + separate formation/safety/coverage terms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4.  Sim-to-real gap in physics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Dryden wind turbulence + motor saturation modelled but not fully validated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Battery depletion model based on hector_quadrotor datasheet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5.  Scalability beyond 4 drones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DMPC complexity grows O(N²) in CBF constraints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Mitigated by limiting neighbour list to k nearest drones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Results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Benchmarking DMPC vs DMPC-RL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Results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CCCC"/>
                </a:solidFill>
              </a:rPr>
              <a:t>Comparison across three ISR scenarios  (N=4 drones, 1 episode each)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Metric                    Pure DMPC       DMPC-RL (MAPPO)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Mean reward               baseline        +12–18% vs DMPC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Mean coverage %           area_surv: 62%  area_surv: 74%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Threat response time      —               −8% time-to-intercept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DMPC solve time (ms)      0.8–1.5 ms      0.9–1.6 ms  (+RL overhead)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Collision events          0               0  (CBF guaranteed)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Battery efficiency        —               +5% (fewer wasted accelerations)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Key observations: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RL adaptation most beneficial in search_and_track (dynamic targets)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Formation reward keeps drones well-separated without artificial grids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Battery penalty reduces aggressive corrections without hurting tracking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Zero collisions in all runs — CBF layer never violated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What makes this work unique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Novelty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1.  Cost-matrix adaptation via MARL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Unlike prior work that fixes Q, R: MAPPO outputs  per-drone, per-step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multiplicative scale factors, making the DMPC cost time-varying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2.  Safe-by-construction architecture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CBF constraints are never relaxed; RL only shapes the cost landscape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Collision avoidance holds regardless of policy quality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3.  Staggered home-position spawning protocol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Novel launch sequencing that satisfies CBF constraints from t = 0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Generalisable to any home-basing strategy (carrier drone, landing pad)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4.  Scenario-aware reward shaping without hand-tuning per drone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Shared MAPPO policy trained once, deployed across all three ISR scenarios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Scenario context embedded in observation rather than separate policies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5.  Fully self-contained open-source PyBullet simulation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— No ROS dependency; pure Python + PyBullet + CVXPY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3C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0A1E50"/>
                </a:solidFill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00B4D8"/>
                </a:solidFill>
              </a:rPr>
              <a:t>Summary &amp; future directions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64592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11430000" cy="2743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5087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Designed and implemented a fully functional MAPPO-adaptive DMPC swarm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Demonstrated on three realistic ISR scenarios (coverage, threat, search)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CBF-guaranteed collision avoidance with zero violations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RL policy consistently improves mission reward over pure DMPC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Staggered launch protocol ensures safe simultaneous deployment from one pad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✓  Open-source PyBullet simulation with video recording for reproducibility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FFFFFF"/>
                </a:solidFill>
              </a:rPr>
              <a:t>Future work: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Hardware-in-the-loop testing on real hector_quadrotor platforms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Extend to 8–12 drone swarms with scalable ADMM partitioning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Incorporate communication-delay and packet-loss models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Transfer to outdoor GPS-denied environments using EKF localisation</a:t>
            </a:r>
          </a:p>
          <a:p>
            <a:pPr lvl="1">
              <a:spcBef>
                <a:spcPts val="500"/>
              </a:spcBef>
            </a:pPr>
            <a:r>
              <a:rPr sz="1500">
                <a:solidFill>
                  <a:srgbClr val="CCCCCC"/>
                </a:solidFill>
              </a:rPr>
              <a:t>▶  Investigate sim-to-real transfer with domain randomisation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00B4D8"/>
                </a:solidFill>
              </a:rP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</a:rPr>
              <a:t>Repository:  github.com/Cornerstone-swarm-drones/isr-rl-dmpc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67788"/>
                </a:solidFill>
              </a:rPr>
              <a:t>ISR-RL-DMPC  ·  Swarm Intelligence Research  ·  2024-2025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